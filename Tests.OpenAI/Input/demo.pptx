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Quarterly Revenue by Region ($M)</a:t>
            </a:r>
          </a:p>
        </c:rich>
      </c:tx>
      <c:layout/>
      <c:overlay val="0"/>
    </c:title>
    <c:autoTitleDeleted val="0"/>
    <c:plotArea>
      <c:layout/>
      <c:barChart>
        <c:barDir val="col"/>
        <c:grouping val="clustered"/>
        <c:varyColors val="0"/>
        <c:ser>
          <c:idx val="0"/>
          <c:order val="0"/>
          <c:tx>
            <c:strRef>
              <c:f>Sheet1!$B$1</c:f>
              <c:strCache>
                <c:ptCount val="1"/>
                <c:pt idx="0">
                  <c:v>North America</c:v>
                </c:pt>
              </c:strCache>
            </c:strRef>
          </c:tx>
          <c:spPr>
            <a:solidFill>
              <a:srgbClr val="1F6F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3.9</c:v>
                </c:pt>
                <c:pt idx="1">
                  <c:v>4.8</c:v>
                </c:pt>
                <c:pt idx="2">
                  <c:v>5.1</c:v>
                </c:pt>
                <c:pt idx="3">
                  <c:v>5.6</c:v>
                </c:pt>
              </c:numCache>
            </c:numRef>
          </c:val>
        </c:ser>
        <c:ser>
          <c:idx val="1"/>
          <c:order val="1"/>
          <c:tx>
            <c:strRef>
              <c:f>Sheet1!$C$1</c:f>
              <c:strCache>
                <c:ptCount val="1"/>
                <c:pt idx="0">
                  <c:v>Europe</c:v>
                </c:pt>
              </c:strCache>
            </c:strRef>
          </c:tx>
          <c:spPr>
            <a:solidFill>
              <a:srgbClr val="00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2.7</c:v>
                </c:pt>
                <c:pt idx="1">
                  <c:v>3.2</c:v>
                </c:pt>
                <c:pt idx="2">
                  <c:v>3.8</c:v>
                </c:pt>
                <c:pt idx="3">
                  <c:v>4.2</c:v>
                </c:pt>
              </c:numCache>
            </c:numRef>
          </c:val>
        </c:ser>
        <c:ser>
          <c:idx val="2"/>
          <c:order val="2"/>
          <c:tx>
            <c:strRef>
              <c:f>Sheet1!$D$1</c:f>
              <c:strCache>
                <c:ptCount val="1"/>
                <c:pt idx="0">
                  <c:v>APAC</c:v>
                </c:pt>
              </c:strCache>
            </c:strRef>
          </c:tx>
          <c:spPr>
            <a:solidFill>
              <a:srgbClr val="F28C2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Sheet1!$D$2:$D$5</c:f>
              <c:numCache>
                <c:formatCode>General</c:formatCode>
                <c:ptCount val="4"/>
                <c:pt idx="0">
                  <c:v>1.8</c:v>
                </c:pt>
                <c:pt idx="1">
                  <c:v>2.1</c:v>
                </c:pt>
                <c:pt idx="2">
                  <c:v>2.4</c:v>
                </c:pt>
                <c:pt idx="3">
                  <c:v>2.9</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Support Ticket Mix (%)</a:t>
            </a:r>
          </a:p>
        </c:rich>
      </c:tx>
      <c:layout/>
      <c:overlay val="0"/>
    </c:title>
    <c:autoTitleDeleted val="0"/>
    <c:plotArea>
      <c:layout/>
      <c:pieChart>
        <c:varyColors val="1"/>
        <c:ser>
          <c:idx val="0"/>
          <c:order val="0"/>
          <c:tx>
            <c:strRef>
              <c:f>Sheet1!$B$1</c:f>
              <c:strCache>
                <c:ptCount val="1"/>
                <c:pt idx="0">
                  <c:v>Ticket share</c:v>
                </c:pt>
              </c:strCache>
            </c:strRef>
          </c:tx>
          <c:spPr>
            <a:solidFill>
              <a:schemeClr val="accent1"/>
            </a:solidFill>
            <a:ln w="9525" cap="flat">
              <a:solidFill>
                <a:srgbClr val="F9F9F9"/>
              </a:solidFill>
              <a:prstDash val="solid"/>
              <a:round/>
            </a:ln>
            <a:effectLst/>
          </c:spPr>
          <c:dPt>
            <c:idx val="0"/>
            <c:bubble3D val="0"/>
            <c:spPr>
              <a:solidFill>
                <a:srgbClr val="5DA5DA"/>
              </a:solidFill>
              <a:effectLst/>
            </c:spPr>
          </c:dPt>
          <c:dPt>
            <c:idx val="1"/>
            <c:bubble3D val="0"/>
            <c:spPr>
              <a:solidFill>
                <a:srgbClr val="FAA43A"/>
              </a:solidFill>
              <a:effectLst/>
            </c:spPr>
          </c:dPt>
          <c:dPt>
            <c:idx val="2"/>
            <c:bubble3D val="0"/>
            <c:spPr>
              <a:solidFill>
                <a:srgbClr val="60BD68"/>
              </a:solidFill>
              <a:effectLst/>
            </c:spPr>
          </c:dPt>
          <c:dPt>
            <c:idx val="3"/>
            <c:bubble3D val="0"/>
            <c:spPr>
              <a:solidFill>
                <a:srgbClr val="F17CB0"/>
              </a:solidFill>
              <a:effectLst/>
            </c:spPr>
          </c:dPt>
          <c:dPt>
            <c:idx val="4"/>
            <c:bubble3D val="0"/>
            <c:spPr>
              <a:solidFill>
                <a:srgbClr val="B2912F"/>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Billing</c:v>
                </c:pt>
                <c:pt idx="1">
                  <c:v>Technical</c:v>
                </c:pt>
                <c:pt idx="2">
                  <c:v>Localization</c:v>
                </c:pt>
                <c:pt idx="3">
                  <c:v>Account</c:v>
                </c:pt>
                <c:pt idx="4">
                  <c:v>Other</c:v>
                </c:pt>
              </c:strCache>
            </c:strRef>
          </c:cat>
          <c:val>
            <c:numRef>
              <c:f>Sheet1!$B$2:$B$6</c:f>
              <c:numCache>
                <c:ptCount val="5"/>
                <c:pt idx="0">
                  <c:v>28</c:v>
                </c:pt>
                <c:pt idx="1">
                  <c:v>34</c:v>
                </c:pt>
                <c:pt idx="2">
                  <c:v>14</c:v>
                </c:pt>
                <c:pt idx="3">
                  <c:v>16</c:v>
                </c:pt>
                <c:pt idx="4">
                  <c:v>8</c:v>
                </c:pt>
              </c:numCache>
            </c:numRef>
          </c:val>
        </c:ser>
        <c:firstSliceAng val="270"/>
      </c:pie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title slide includes business-oriented text, punctuation, a date, and a status label with intentional leading and trailing spaces. It should remain editable after translation round-trip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slide is designed to verify bullet extraction, paragraph boundaries, and punctuation preservation. Translators should avoid changing numeric values unless the source content requires locale-specific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intentionally contains multiple independent text boxes. QA teams can use it to verify whether extraction order remains stable and whether duplicate phrases such as Save changes are consistently translated.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 table includes short labels, currency values, and longer explanatory comments. It is meant to remain an editable PowerPoint table,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checklist should help reviewers validate visible slide text, notes, tables, and chart labels. It also includes placeholders and repeated phrases to test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QA_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6355080"/>
            <a:ext cx="11430000" cy="0"/>
          </a:xfrm>
          <a:prstGeom prst="line">
            <a:avLst/>
          </a:prstGeom>
          <a:noFill/>
          <a:ln w="12700">
            <a:solidFill>
              <a:srgbClr val="D8DEE9"/>
            </a:solidFill>
            <a:prstDash val="solid"/>
          </a:ln>
        </p:spPr>
      </p:sp>
      <p:sp>
        <p:nvSpPr>
          <p:cNvPr id="3" name="Text 1"/>
          <p:cNvSpPr/>
          <p:nvPr/>
        </p:nvSpPr>
        <p:spPr>
          <a:xfrm>
            <a:off x="365760" y="6400800"/>
            <a:ext cx="3291840" cy="164592"/>
          </a:xfrm>
          <a:prstGeom prst="rect">
            <a:avLst/>
          </a:prstGeom>
          <a:noFill/>
          <a:ln/>
        </p:spPr>
        <p:txBody>
          <a:bodyPr wrap="square" rtlCol="0" anchor="ctr"/>
          <a:lstStyle/>
          <a:p>
            <a:pPr indent="0" marL="0">
              <a:buNone/>
            </a:pPr>
            <a:r>
              <a:rPr lang="en-US" sz="700" dirty="0">
                <a:solidFill>
                  <a:srgbClr val="7A869A"/>
                </a:solidFill>
                <a:latin typeface="Aptos" pitchFamily="34" charset="0"/>
                <a:ea typeface="Aptos" pitchFamily="34" charset="-122"/>
                <a:cs typeface="Aptos" pitchFamily="34" charset="-120"/>
              </a:rPr>
              <a:t>Localization QA Master Footer</a:t>
            </a:r>
            <a:endParaRPr lang="en-US" sz="7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355B"/>
          </a:solidFill>
          <a:ln w="12700">
            <a:solidFill>
              <a:srgbClr val="12355B"/>
            </a:solidFill>
            <a:prstDash val="solid"/>
          </a:ln>
        </p:spPr>
      </p:sp>
      <p:sp>
        <p:nvSpPr>
          <p:cNvPr id="3" name="Text 1"/>
          <p:cNvSpPr/>
          <p:nvPr/>
        </p:nvSpPr>
        <p:spPr>
          <a:xfrm>
            <a:off x="676656" y="1627632"/>
            <a:ext cx="6858000" cy="594360"/>
          </a:xfrm>
          <a:prstGeom prst="rect">
            <a:avLst/>
          </a:prstGeom>
          <a:noFill/>
          <a:ln/>
        </p:spPr>
        <p:txBody>
          <a:bodyPr wrap="square" lIns="0" tIns="0" rIns="0" bIns="0" rtlCol="0" anchor="ctr"/>
          <a:lstStyle/>
          <a:p>
            <a:pPr indent="0" marL="0">
              <a:buNone/>
            </a:pPr>
            <a:r>
              <a:rPr lang="en-US" sz="3200" b="1" dirty="0">
                <a:solidFill>
                  <a:srgbClr val="12355B"/>
                </a:solidFill>
                <a:latin typeface="Aptos Display" pitchFamily="34" charset="0"/>
                <a:ea typeface="Aptos Display" pitchFamily="34" charset="-122"/>
                <a:cs typeface="Aptos Display" pitchFamily="34" charset="-120"/>
              </a:rPr>
              <a:t>Localization &amp; Translation QA</a:t>
            </a:r>
            <a:endParaRPr lang="en-US" sz="3200" dirty="0"/>
          </a:p>
        </p:txBody>
      </p:sp>
      <p:sp>
        <p:nvSpPr>
          <p:cNvPr id="4" name="Text 2"/>
          <p:cNvSpPr/>
          <p:nvPr/>
        </p:nvSpPr>
        <p:spPr>
          <a:xfrm>
            <a:off x="713232" y="2331720"/>
            <a:ext cx="7223760" cy="320040"/>
          </a:xfrm>
          <a:prstGeom prst="rect">
            <a:avLst/>
          </a:prstGeom>
          <a:noFill/>
          <a:ln/>
        </p:spPr>
        <p:txBody>
          <a:bodyPr wrap="square" lIns="0" tIns="0" rIns="0" bIns="0" rtlCol="0" anchor="ctr"/>
          <a:lstStyle/>
          <a:p>
            <a:pPr indent="0" marL="0">
              <a:buNone/>
            </a:pPr>
            <a:r>
              <a:rPr lang="en-US" sz="1600" dirty="0">
                <a:solidFill>
                  <a:srgbClr val="5E6C84"/>
                </a:solidFill>
              </a:rPr>
              <a:t>Editable PowerPoint test deck for extraction, translation, and round-trip verification</a:t>
            </a:r>
            <a:endParaRPr lang="en-US" sz="1600" dirty="0"/>
          </a:p>
        </p:txBody>
      </p:sp>
      <p:sp>
        <p:nvSpPr>
          <p:cNvPr id="5" name="Text 3"/>
          <p:cNvSpPr/>
          <p:nvPr/>
        </p:nvSpPr>
        <p:spPr>
          <a:xfrm>
            <a:off x="749808" y="2926080"/>
            <a:ext cx="7315200" cy="292608"/>
          </a:xfrm>
          <a:prstGeom prst="rect">
            <a:avLst/>
          </a:prstGeom>
          <a:noFill/>
          <a:ln/>
        </p:spPr>
        <p:txBody>
          <a:bodyPr wrap="square" lIns="0" tIns="0" rIns="0" bIns="0" rtlCol="0" anchor="ctr"/>
          <a:lstStyle/>
          <a:p>
            <a:pPr indent="0" marL="0">
              <a:buNone/>
            </a:pPr>
            <a:r>
              <a:rPr lang="en-US" sz="1200" dirty="0">
                <a:solidFill>
                  <a:srgbClr val="1F2937"/>
                </a:solidFill>
              </a:rPr>
              <a:t>Subtitle: Quarterly Business Review • Product Launch Plan • Regional Sales Performance</a:t>
            </a:r>
            <a:endParaRPr lang="en-US" sz="1200" dirty="0"/>
          </a:p>
        </p:txBody>
      </p:sp>
      <p:sp>
        <p:nvSpPr>
          <p:cNvPr id="6" name="Text 4"/>
          <p:cNvSpPr/>
          <p:nvPr/>
        </p:nvSpPr>
        <p:spPr>
          <a:xfrm>
            <a:off x="749808" y="3474720"/>
            <a:ext cx="2926080" cy="256032"/>
          </a:xfrm>
          <a:prstGeom prst="rect">
            <a:avLst/>
          </a:prstGeom>
          <a:solidFill>
            <a:srgbClr val="1F6FEB"/>
          </a:solidFill>
          <a:ln/>
        </p:spPr>
        <p:txBody>
          <a:bodyPr wrap="square" lIns="762" tIns="762" rIns="762" bIns="762" rtlCol="0" anchor="ctr"/>
          <a:lstStyle/>
          <a:p>
            <a:pPr indent="0" marL="0">
              <a:buNone/>
            </a:pPr>
            <a:r>
              <a:rPr lang="en-US" sz="1100" b="1" dirty="0">
                <a:solidFill>
                  <a:srgbClr val="FFFFFF"/>
                </a:solidFill>
              </a:rPr>
              <a:t>  Review status: Ready for localization  </a:t>
            </a:r>
            <a:endParaRPr lang="en-US" sz="1100" dirty="0"/>
          </a:p>
        </p:txBody>
      </p:sp>
      <p:sp>
        <p:nvSpPr>
          <p:cNvPr id="7" name="Text 5"/>
          <p:cNvSpPr/>
          <p:nvPr/>
        </p:nvSpPr>
        <p:spPr>
          <a:xfrm>
            <a:off x="8412480" y="5989320"/>
            <a:ext cx="2011680" cy="228600"/>
          </a:xfrm>
          <a:prstGeom prst="rect">
            <a:avLst/>
          </a:prstGeom>
          <a:noFill/>
          <a:ln/>
        </p:spPr>
        <p:txBody>
          <a:bodyPr wrap="square" rtlCol="0" anchor="ctr"/>
          <a:lstStyle/>
          <a:p>
            <a:pPr algn="r" indent="0" marL="0">
              <a:buNone/>
            </a:pPr>
            <a:r>
              <a:rPr lang="en-US" sz="1000" dirty="0">
                <a:solidFill>
                  <a:srgbClr val="5E6C84"/>
                </a:solidFill>
              </a:rPr>
              <a:t>Date: June 5, 2026</a:t>
            </a:r>
            <a:endParaRPr lang="en-US" sz="1000" dirty="0"/>
          </a:p>
        </p:txBody>
      </p:sp>
      <p:sp>
        <p:nvSpPr>
          <p:cNvPr id="8" name="Text 6"/>
          <p:cNvSpPr/>
          <p:nvPr/>
        </p:nvSpPr>
        <p:spPr>
          <a:xfrm>
            <a:off x="10625328" y="5989320"/>
            <a:ext cx="731520" cy="228600"/>
          </a:xfrm>
          <a:prstGeom prst="rect">
            <a:avLst/>
          </a:prstGeom>
          <a:noFill/>
          <a:ln/>
        </p:spPr>
        <p:txBody>
          <a:bodyPr wrap="square" rtlCol="0" anchor="ctr"/>
          <a:lstStyle/>
          <a:p>
            <a:pPr algn="r" indent="0" marL="0">
              <a:buNone/>
            </a:pPr>
            <a:r>
              <a:rPr lang="en-US" sz="1000" dirty="0">
                <a:solidFill>
                  <a:srgbClr val="5E6C84"/>
                </a:solidFill>
              </a:rPr>
              <a:t>Slide 1</a:t>
            </a:r>
            <a:endParaRPr lang="en-US" sz="10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Executive overview</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Headings, bullets, punctuation, percentages, and repeated phrases</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2</a:t>
            </a:r>
            <a:endParaRPr lang="en-US" sz="750" dirty="0"/>
          </a:p>
        </p:txBody>
      </p:sp>
      <p:sp>
        <p:nvSpPr>
          <p:cNvPr id="6" name="Text 4"/>
          <p:cNvSpPr/>
          <p:nvPr/>
        </p:nvSpPr>
        <p:spPr>
          <a:xfrm>
            <a:off x="685800" y="1143000"/>
            <a:ext cx="5212080" cy="347472"/>
          </a:xfrm>
          <a:prstGeom prst="rect">
            <a:avLst/>
          </a:prstGeom>
          <a:noFill/>
          <a:ln/>
        </p:spPr>
        <p:txBody>
          <a:bodyPr wrap="square" lIns="254" tIns="254" rIns="254" bIns="254" rtlCol="0" anchor="ctr"/>
          <a:lstStyle/>
          <a:p>
            <a:pPr indent="0" marL="0">
              <a:buNone/>
            </a:pPr>
            <a:r>
              <a:rPr lang="en-US" sz="1300" b="1" dirty="0">
                <a:solidFill>
                  <a:srgbClr val="12355B"/>
                </a:solidFill>
              </a:rPr>
              <a:t>Key message: </a:t>
            </a:r>
            <a:pPr indent="0" marL="0">
              <a:buNone/>
            </a:pPr>
            <a:r>
              <a:rPr lang="en-US" sz="1300" b="1" dirty="0">
                <a:solidFill>
                  <a:srgbClr val="1F6FEB"/>
                </a:solidFill>
              </a:rPr>
              <a:t>Ready for localization</a:t>
            </a:r>
            <a:pPr indent="0" marL="0">
              <a:buNone/>
            </a:pPr>
            <a:r>
              <a:rPr lang="en-US" sz="1300" dirty="0">
                <a:solidFill>
                  <a:srgbClr val="1F2937"/>
                </a:solidFill>
              </a:rPr>
              <a:t> — the launch package is 82% complete as of June 5, 2026.</a:t>
            </a:r>
            <a:endParaRPr lang="en-US" sz="1300" dirty="0"/>
          </a:p>
        </p:txBody>
      </p:sp>
      <p:sp>
        <p:nvSpPr>
          <p:cNvPr id="7" name="Text 5"/>
          <p:cNvSpPr/>
          <p:nvPr/>
        </p:nvSpPr>
        <p:spPr>
          <a:xfrm>
            <a:off x="749808" y="1691640"/>
            <a:ext cx="5120640" cy="1554480"/>
          </a:xfrm>
          <a:prstGeom prst="rect">
            <a:avLst/>
          </a:prstGeom>
          <a:noFill/>
          <a:ln/>
        </p:spPr>
        <p:txBody>
          <a:bodyPr wrap="square" rtlCol="0" anchor="ctr">
            <a:normAutofit/>
          </a:bodyPr>
          <a:lstStyle/>
          <a:p>
            <a:pPr indent="0" marL="0">
              <a:buNone/>
            </a:pPr>
            <a:r>
              <a:rPr lang="en-US" sz="1200" b="1" dirty="0">
                <a:solidFill>
                  <a:srgbClr val="1F6FEB"/>
                </a:solidFill>
              </a:rPr>
              <a:t>• </a:t>
            </a:r>
            <a:pPr indent="0" marL="0">
              <a:buNone/>
            </a:pPr>
            <a:r>
              <a:rPr lang="en-US" sz="1200" dirty="0">
                <a:solidFill>
                  <a:srgbClr val="1F2937"/>
                </a:solidFill>
              </a:rPr>
              <a:t>Q2 revenue grew by 14.8% year over year (YoY).
</a:t>
            </a:r>
            <a:pPr indent="0" marL="0">
              <a:buNone/>
            </a:pPr>
            <a:r>
              <a:rPr lang="en-US" sz="1200" b="1" dirty="0">
                <a:solidFill>
                  <a:srgbClr val="1F6FEB"/>
                </a:solidFill>
              </a:rPr>
              <a:t>• </a:t>
            </a:r>
            <a:pPr indent="0" marL="0">
              <a:buNone/>
            </a:pPr>
            <a:r>
              <a:rPr lang="en-US" sz="1200" dirty="0">
                <a:solidFill>
                  <a:srgbClr val="1F2937"/>
                </a:solidFill>
              </a:rPr>
              <a:t>The product launch window is “September 2026” and requires sign-off by August 21.
</a:t>
            </a:r>
            <a:pPr indent="0" marL="0">
              <a:buNone/>
            </a:pPr>
            <a:r>
              <a:rPr lang="en-US" sz="1200" b="1" dirty="0">
                <a:solidFill>
                  <a:srgbClr val="1F6FEB"/>
                </a:solidFill>
              </a:rPr>
              <a:t>• </a:t>
            </a:r>
            <a:pPr indent="0" marL="0">
              <a:buNone/>
            </a:pPr>
            <a:r>
              <a:rPr lang="en-US" sz="1200" dirty="0">
                <a:solidFill>
                  <a:srgbClr val="1F2937"/>
                </a:solidFill>
              </a:rPr>
              <a:t>Customer support response time improved from 9.2 hours to 4.6 hours.
</a:t>
            </a:r>
            <a:pPr indent="0" marL="0">
              <a:buNone/>
            </a:pPr>
            <a:r>
              <a:rPr lang="en-US" sz="1200" b="1" dirty="0">
                <a:solidFill>
                  <a:srgbClr val="1F6FEB"/>
                </a:solidFill>
              </a:rPr>
              <a:t>• </a:t>
            </a:r>
            <a:pPr indent="0" marL="0">
              <a:buNone/>
            </a:pPr>
            <a:r>
              <a:rPr lang="en-US" sz="1200" dirty="0">
                <a:solidFill>
                  <a:srgbClr val="1F2937"/>
                </a:solidFill>
              </a:rPr>
              <a:t>Known risk: translated strings may expand by 25–40% in German, Finnish, or French.</a:t>
            </a:r>
            <a:endParaRPr lang="en-US" sz="1200" dirty="0"/>
          </a:p>
        </p:txBody>
      </p:sp>
      <p:sp>
        <p:nvSpPr>
          <p:cNvPr id="8" name="Shape 6"/>
          <p:cNvSpPr/>
          <p:nvPr/>
        </p:nvSpPr>
        <p:spPr>
          <a:xfrm>
            <a:off x="6400800" y="1115568"/>
            <a:ext cx="2240280" cy="1188720"/>
          </a:xfrm>
          <a:prstGeom prst="roundRect">
            <a:avLst>
              <a:gd name="adj" fmla="val 4615"/>
            </a:avLst>
          </a:prstGeom>
          <a:solidFill>
            <a:srgbClr val="EAF2FF"/>
          </a:solidFill>
          <a:ln w="12700">
            <a:solidFill>
              <a:srgbClr val="BBD3FF">
                <a:alpha val="40000"/>
              </a:srgbClr>
            </a:solidFill>
            <a:prstDash val="solid"/>
          </a:ln>
        </p:spPr>
      </p:sp>
      <p:sp>
        <p:nvSpPr>
          <p:cNvPr id="9" name="Text 7"/>
          <p:cNvSpPr/>
          <p:nvPr/>
        </p:nvSpPr>
        <p:spPr>
          <a:xfrm>
            <a:off x="6629400" y="1335024"/>
            <a:ext cx="1737360" cy="502920"/>
          </a:xfrm>
          <a:prstGeom prst="rect">
            <a:avLst/>
          </a:prstGeom>
          <a:noFill/>
          <a:ln/>
        </p:spPr>
        <p:txBody>
          <a:bodyPr wrap="square" lIns="0" tIns="0" rIns="0" bIns="0" rtlCol="0" anchor="ctr"/>
          <a:lstStyle/>
          <a:p>
            <a:pPr algn="ctr" indent="0" marL="0">
              <a:buNone/>
            </a:pPr>
            <a:r>
              <a:rPr lang="en-US" sz="1800" b="1" dirty="0">
                <a:solidFill>
                  <a:srgbClr val="12355B"/>
                </a:solidFill>
              </a:rPr>
              <a:t>Revenue</a:t>
            </a:r>
            <a:endParaRPr lang="en-US" sz="1800" dirty="0"/>
          </a:p>
          <a:p>
            <a:pPr algn="ctr" indent="0" marL="0">
              <a:buNone/>
            </a:pPr>
            <a:r>
              <a:rPr lang="en-US" sz="1800" b="1" dirty="0">
                <a:solidFill>
                  <a:srgbClr val="12355B"/>
                </a:solidFill>
              </a:rPr>
              <a:t>$12.4M</a:t>
            </a:r>
            <a:endParaRPr lang="en-US" sz="1800" dirty="0"/>
          </a:p>
        </p:txBody>
      </p:sp>
      <p:sp>
        <p:nvSpPr>
          <p:cNvPr id="10" name="Shape 8"/>
          <p:cNvSpPr/>
          <p:nvPr/>
        </p:nvSpPr>
        <p:spPr>
          <a:xfrm>
            <a:off x="9006840" y="1115568"/>
            <a:ext cx="2240280" cy="1188720"/>
          </a:xfrm>
          <a:prstGeom prst="roundRect">
            <a:avLst>
              <a:gd name="adj" fmla="val 4615"/>
            </a:avLst>
          </a:prstGeom>
          <a:solidFill>
            <a:srgbClr val="EAF7EA"/>
          </a:solidFill>
          <a:ln w="12700">
            <a:solidFill>
              <a:srgbClr val="BFE3BF">
                <a:alpha val="40000"/>
              </a:srgbClr>
            </a:solidFill>
            <a:prstDash val="solid"/>
          </a:ln>
        </p:spPr>
      </p:sp>
      <p:sp>
        <p:nvSpPr>
          <p:cNvPr id="11" name="Text 9"/>
          <p:cNvSpPr/>
          <p:nvPr/>
        </p:nvSpPr>
        <p:spPr>
          <a:xfrm>
            <a:off x="9253728" y="1335024"/>
            <a:ext cx="1737360" cy="502920"/>
          </a:xfrm>
          <a:prstGeom prst="rect">
            <a:avLst/>
          </a:prstGeom>
          <a:noFill/>
          <a:ln/>
        </p:spPr>
        <p:txBody>
          <a:bodyPr wrap="square" lIns="0" tIns="0" rIns="0" bIns="0" rtlCol="0" anchor="ctr"/>
          <a:lstStyle/>
          <a:p>
            <a:pPr algn="ctr" indent="0" marL="0">
              <a:buNone/>
            </a:pPr>
            <a:r>
              <a:rPr lang="en-US" sz="1800" b="1" dirty="0">
                <a:solidFill>
                  <a:srgbClr val="2E7D32"/>
                </a:solidFill>
              </a:rPr>
              <a:t>Completion</a:t>
            </a:r>
            <a:endParaRPr lang="en-US" sz="1800" dirty="0"/>
          </a:p>
          <a:p>
            <a:pPr algn="ctr" indent="0" marL="0">
              <a:buNone/>
            </a:pPr>
            <a:r>
              <a:rPr lang="en-US" sz="1800" b="1" dirty="0">
                <a:solidFill>
                  <a:srgbClr val="2E7D32"/>
                </a:solidFill>
              </a:rPr>
              <a:t>82%</a:t>
            </a:r>
            <a:endParaRPr lang="en-US" sz="1800" dirty="0"/>
          </a:p>
        </p:txBody>
      </p:sp>
      <p:sp>
        <p:nvSpPr>
          <p:cNvPr id="12" name="Text 10"/>
          <p:cNvSpPr/>
          <p:nvPr/>
        </p:nvSpPr>
        <p:spPr>
          <a:xfrm>
            <a:off x="731520" y="3794760"/>
            <a:ext cx="10241280" cy="1051560"/>
          </a:xfrm>
          <a:prstGeom prst="rect">
            <a:avLst/>
          </a:prstGeom>
          <a:noFill/>
          <a:ln/>
        </p:spPr>
        <p:txBody>
          <a:bodyPr wrap="square" lIns="635" tIns="635" rIns="635" bIns="635" rtlCol="0" anchor="t">
            <a:normAutofit/>
          </a:bodyPr>
          <a:lstStyle/>
          <a:p>
            <a:pPr indent="0" marL="0">
              <a:buNone/>
            </a:pPr>
            <a:r>
              <a:rPr lang="en-US" sz="1100" dirty="0">
                <a:solidFill>
                  <a:srgbClr val="1F2937"/>
                </a:solidFill>
              </a:rPr>
              <a:t>This paragraph tests sentence-level extraction. It contains commas, semicolons; parentheses (like this), and quoted text such as “premium support”.</a:t>
            </a:r>
            <a:endParaRPr lang="en-US" sz="1100" dirty="0"/>
          </a:p>
          <a:p>
            <a:pPr indent="0" marL="0">
              <a:buNone/>
            </a:pPr>
            <a:endParaRPr lang="en-US" sz="1100" dirty="0"/>
          </a:p>
          <a:p>
            <a:pPr indent="0" marL="0">
              <a:buNone/>
            </a:pPr>
            <a:r>
              <a:rPr lang="en-US" sz="1100" dirty="0">
                <a:solidFill>
                  <a:srgbClr val="1F2937"/>
                </a:solidFill>
              </a:rPr>
              <a:t>A second paragraph is included to check whether line breaks and paragraph boundaries survive import, export, and re-import.</a:t>
            </a:r>
            <a:endParaRPr lang="en-US" sz="1100" dirty="0"/>
          </a:p>
        </p:txBody>
      </p:sp>
      <p:sp>
        <p:nvSpPr>
          <p:cNvPr id="13" name="Text 11"/>
          <p:cNvSpPr/>
          <p:nvPr/>
        </p:nvSpPr>
        <p:spPr>
          <a:xfrm>
            <a:off x="3840480" y="6400800"/>
            <a:ext cx="4389120" cy="164592"/>
          </a:xfrm>
          <a:prstGeom prst="rect">
            <a:avLst/>
          </a:prstGeom>
          <a:noFill/>
          <a:ln/>
        </p:spPr>
        <p:txBody>
          <a:bodyPr wrap="square" lIns="0" tIns="0" rIns="0" bIns="0" rtlCol="0" anchor="ctr"/>
          <a:lstStyle/>
          <a:p>
            <a:pPr algn="ctr" indent="0" marL="0">
              <a:buNone/>
            </a:pPr>
            <a:r>
              <a:rPr lang="en-US" sz="700" dirty="0">
                <a:solidFill>
                  <a:srgbClr val="7A869A"/>
                </a:solidFill>
              </a:rPr>
              <a:t>Repeated phrase: Ready for localization</a:t>
            </a:r>
            <a:endParaRPr lang="en-US" sz="7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Product launch plan</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Numbered list, mixed formatting, tabs, and text expansion</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3</a:t>
            </a:r>
            <a:endParaRPr lang="en-US" sz="750" dirty="0"/>
          </a:p>
        </p:txBody>
      </p:sp>
      <p:sp>
        <p:nvSpPr>
          <p:cNvPr id="6" name="Text 4"/>
          <p:cNvSpPr/>
          <p:nvPr/>
        </p:nvSpPr>
        <p:spPr>
          <a:xfrm>
            <a:off x="731520" y="1124712"/>
            <a:ext cx="2743200" cy="256032"/>
          </a:xfrm>
          <a:prstGeom prst="rect">
            <a:avLst/>
          </a:prstGeom>
          <a:noFill/>
          <a:ln/>
        </p:spPr>
        <p:txBody>
          <a:bodyPr wrap="square" lIns="0" tIns="0" rIns="0" bIns="0" rtlCol="0" anchor="ctr"/>
          <a:lstStyle/>
          <a:p>
            <a:pPr indent="0" marL="0">
              <a:buNone/>
            </a:pPr>
            <a:r>
              <a:rPr lang="en-US" sz="1500" b="1" dirty="0">
                <a:solidFill>
                  <a:srgbClr val="12355B"/>
                </a:solidFill>
              </a:rPr>
              <a:t>Launch checklist</a:t>
            </a:r>
            <a:endParaRPr lang="en-US" sz="1500" dirty="0"/>
          </a:p>
        </p:txBody>
      </p:sp>
      <p:sp>
        <p:nvSpPr>
          <p:cNvPr id="7" name="Text 5"/>
          <p:cNvSpPr/>
          <p:nvPr/>
        </p:nvSpPr>
        <p:spPr>
          <a:xfrm>
            <a:off x="822960" y="1554480"/>
            <a:ext cx="5212080" cy="1828800"/>
          </a:xfrm>
          <a:prstGeom prst="rect">
            <a:avLst/>
          </a:prstGeom>
          <a:noFill/>
          <a:ln/>
        </p:spPr>
        <p:txBody>
          <a:bodyPr wrap="square" rtlCol="0" anchor="ctr">
            <a:normAutofit/>
          </a:bodyPr>
          <a:lstStyle/>
          <a:p>
            <a:pPr indent="0" marL="0">
              <a:buNone/>
            </a:pPr>
            <a:r>
              <a:rPr lang="en-US" sz="1200" dirty="0">
                <a:solidFill>
                  <a:srgbClr val="1F2937"/>
                </a:solidFill>
              </a:rPr>
              <a:t>1. Finalize in-app copy by 2026-07-15.</a:t>
            </a:r>
            <a:endParaRPr lang="en-US" sz="1200" dirty="0"/>
          </a:p>
          <a:p>
            <a:pPr indent="0" marL="0">
              <a:buNone/>
            </a:pPr>
            <a:r>
              <a:rPr lang="en-US" sz="1200" dirty="0">
                <a:solidFill>
                  <a:srgbClr val="1F2937"/>
                </a:solidFill>
              </a:rPr>
              <a:t>2. Confirm legal review (privacy, data retention, billing).</a:t>
            </a:r>
            <a:endParaRPr lang="en-US" sz="1200" dirty="0"/>
          </a:p>
          <a:p>
            <a:pPr indent="0" marL="0">
              <a:buNone/>
            </a:pPr>
            <a:r>
              <a:rPr lang="en-US" sz="1200" dirty="0">
                <a:solidFill>
                  <a:srgbClr val="1F2937"/>
                </a:solidFill>
              </a:rPr>
              <a:t>3. Export translation package: strings.json, help_center.csv, and onboarding.pptx.</a:t>
            </a:r>
            <a:endParaRPr lang="en-US" sz="1200" dirty="0"/>
          </a:p>
          <a:p>
            <a:pPr indent="0" marL="0">
              <a:buNone/>
            </a:pPr>
            <a:r>
              <a:rPr lang="en-US" sz="1200" dirty="0">
                <a:solidFill>
                  <a:srgbClr val="1F2937"/>
                </a:solidFill>
              </a:rPr>
              <a:t>4. Complete pseudo-localization: [!!! Expand UI labels by 35% !!!].</a:t>
            </a:r>
            <a:endParaRPr lang="en-US" sz="1200" dirty="0"/>
          </a:p>
          <a:p>
            <a:pPr indent="0" marL="0">
              <a:buNone/>
            </a:pPr>
            <a:r>
              <a:rPr lang="en-US" sz="1200" dirty="0">
                <a:solidFill>
                  <a:srgbClr val="1F2937"/>
                </a:solidFill>
              </a:rPr>
              <a:t>5. Publish release notes: “What’s new in version 4.2?”</a:t>
            </a:r>
            <a:endParaRPr lang="en-US" sz="1200" dirty="0"/>
          </a:p>
        </p:txBody>
      </p:sp>
      <p:sp>
        <p:nvSpPr>
          <p:cNvPr id="8" name="Text 6"/>
          <p:cNvSpPr/>
          <p:nvPr/>
        </p:nvSpPr>
        <p:spPr>
          <a:xfrm>
            <a:off x="822960" y="3822192"/>
            <a:ext cx="5577840" cy="1143000"/>
          </a:xfrm>
          <a:prstGeom prst="rect">
            <a:avLst/>
          </a:prstGeom>
          <a:noFill/>
          <a:ln/>
        </p:spPr>
        <p:txBody>
          <a:bodyPr wrap="square" lIns="508" tIns="508" rIns="508" bIns="508" rtlCol="0" anchor="ctr"/>
          <a:lstStyle/>
          <a:p>
            <a:pPr indent="0" marL="0">
              <a:buNone/>
            </a:pPr>
            <a:r>
              <a:rPr lang="en-US" sz="1200" b="1" dirty="0">
                <a:solidFill>
                  <a:srgbClr val="12355B"/>
                </a:solidFill>
              </a:rPr>
              <a:t>Formatting sample: </a:t>
            </a:r>
            <a:pPr indent="0" marL="0">
              <a:buNone/>
            </a:pPr>
            <a:r>
              <a:rPr lang="en-US" sz="1200" b="1" dirty="0">
                <a:solidFill>
                  <a:srgbClr val="1F6FEB"/>
                </a:solidFill>
              </a:rPr>
              <a:t>bold</a:t>
            </a:r>
            <a:pPr indent="0" marL="0">
              <a:buNone/>
            </a:pPr>
            <a:r>
              <a:rPr lang="en-US" sz="1200" dirty="0">
                <a:solidFill>
                  <a:srgbClr val="1F2937"/>
                </a:solidFill>
              </a:rPr>
              <a:t>, </a:t>
            </a:r>
            <a:pPr indent="0" marL="0">
              <a:buNone/>
            </a:pPr>
            <a:r>
              <a:rPr lang="en-US" sz="1200" i="1" dirty="0">
                <a:solidFill>
                  <a:srgbClr val="2E7D32"/>
                </a:solidFill>
              </a:rPr>
              <a:t>italic</a:t>
            </a:r>
            <a:pPr indent="0" marL="0">
              <a:buNone/>
            </a:pPr>
            <a:r>
              <a:rPr lang="en-US" sz="1200" dirty="0">
                <a:solidFill>
                  <a:srgbClr val="1F2937"/>
                </a:solidFill>
              </a:rPr>
              <a:t>, </a:t>
            </a:r>
            <a:pPr indent="0" marL="0">
              <a:buNone/>
            </a:pPr>
            <a:r>
              <a:rPr lang="en-US" sz="1200" u="sng" dirty="0">
                <a:solidFill>
                  <a:srgbClr val="F28C28"/>
                </a:solidFill>
              </a:rPr>
              <a:t>underlined</a:t>
            </a:r>
            <a:pPr indent="0" marL="0">
              <a:buNone/>
            </a:pPr>
            <a:r>
              <a:rPr lang="en-US" sz="1200" dirty="0">
                <a:solidFill>
                  <a:srgbClr val="1F2937"/>
                </a:solidFill>
              </a:rPr>
              <a:t>, and </a:t>
            </a:r>
            <a:pPr indent="0" marL="0">
              <a:buNone/>
            </a:pPr>
            <a:r>
              <a:rPr lang="en-US" sz="1200" b="1" dirty="0">
                <a:solidFill>
                  <a:srgbClr val="C62828"/>
                </a:solidFill>
              </a:rPr>
              <a:t>colored text</a:t>
            </a:r>
            <a:pPr indent="0" marL="0">
              <a:buNone/>
            </a:pPr>
            <a:r>
              <a:rPr lang="en-US" sz="1200" dirty="0">
                <a:solidFill>
                  <a:srgbClr val="1F2937"/>
                </a:solidFill>
              </a:rPr>
              <a:t>.</a:t>
            </a:r>
            <a:endParaRPr lang="en-US" sz="1200" dirty="0"/>
          </a:p>
          <a:p>
            <a:pPr indent="0" marL="0">
              <a:buNone/>
            </a:pPr>
            <a:r>
              <a:rPr lang="en-US" sz="1200" dirty="0">
                <a:solidFill>
                  <a:srgbClr val="1F2937"/>
                </a:solidFill>
              </a:rPr>
              <a:t>Line break inside the same text object.</a:t>
            </a:r>
            <a:endParaRPr lang="en-US" sz="1200" dirty="0"/>
          </a:p>
          <a:p>
            <a:pPr indent="0" marL="0">
              <a:buNone/>
            </a:pPr>
            <a:r>
              <a:rPr lang="en-US" sz="1200" dirty="0">
                <a:solidFill>
                  <a:srgbClr val="1F2937"/>
                </a:solidFill>
              </a:rPr>
              <a:t>Indented with tabs:	Owner	Due Date	Status</a:t>
            </a:r>
            <a:endParaRPr lang="en-US" sz="1200" dirty="0"/>
          </a:p>
        </p:txBody>
      </p:sp>
      <p:sp>
        <p:nvSpPr>
          <p:cNvPr id="9" name="Shape 7"/>
          <p:cNvSpPr/>
          <p:nvPr/>
        </p:nvSpPr>
        <p:spPr>
          <a:xfrm>
            <a:off x="7040880" y="1097280"/>
            <a:ext cx="4114800" cy="3931920"/>
          </a:xfrm>
          <a:prstGeom prst="roundRect">
            <a:avLst>
              <a:gd name="adj" fmla="val 1395"/>
            </a:avLst>
          </a:prstGeom>
          <a:solidFill>
            <a:srgbClr val="F4F7FB"/>
          </a:solidFill>
          <a:ln w="12700">
            <a:solidFill>
              <a:srgbClr val="D8DEE9">
                <a:alpha val="40000"/>
              </a:srgbClr>
            </a:solidFill>
            <a:prstDash val="solid"/>
          </a:ln>
        </p:spPr>
      </p:sp>
      <p:sp>
        <p:nvSpPr>
          <p:cNvPr id="10" name="Text 8"/>
          <p:cNvSpPr/>
          <p:nvPr/>
        </p:nvSpPr>
        <p:spPr>
          <a:xfrm>
            <a:off x="7315200" y="1417320"/>
            <a:ext cx="3474720" cy="274320"/>
          </a:xfrm>
          <a:prstGeom prst="rect">
            <a:avLst/>
          </a:prstGeom>
          <a:noFill/>
          <a:ln/>
        </p:spPr>
        <p:txBody>
          <a:bodyPr wrap="square" lIns="0" tIns="0" rIns="0" bIns="0" rtlCol="0" anchor="ctr"/>
          <a:lstStyle/>
          <a:p>
            <a:pPr indent="0" marL="0">
              <a:buNone/>
            </a:pPr>
            <a:r>
              <a:rPr lang="en-US" sz="1500" b="1" dirty="0">
                <a:solidFill>
                  <a:srgbClr val="12355B"/>
                </a:solidFill>
              </a:rPr>
              <a:t>Reusable layout placeholder text</a:t>
            </a:r>
            <a:endParaRPr lang="en-US" sz="1500" dirty="0"/>
          </a:p>
        </p:txBody>
      </p:sp>
      <p:sp>
        <p:nvSpPr>
          <p:cNvPr id="11" name="Text 9"/>
          <p:cNvSpPr/>
          <p:nvPr/>
        </p:nvSpPr>
        <p:spPr>
          <a:xfrm>
            <a:off x="7315200" y="1874520"/>
            <a:ext cx="3474720" cy="1097280"/>
          </a:xfrm>
          <a:prstGeom prst="rect">
            <a:avLst/>
          </a:prstGeom>
          <a:noFill/>
          <a:ln/>
        </p:spPr>
        <p:txBody>
          <a:bodyPr wrap="square" lIns="635" tIns="635" rIns="635" bIns="635" rtlCol="0" anchor="ctr">
            <a:normAutofit/>
          </a:bodyPr>
          <a:lstStyle/>
          <a:p>
            <a:pPr indent="0" marL="0">
              <a:buNone/>
            </a:pPr>
            <a:r>
              <a:rPr lang="en-US" sz="1200" dirty="0">
                <a:solidFill>
                  <a:srgbClr val="1F2937"/>
                </a:solidFill>
              </a:rPr>
              <a:t>Placeholder: Insert localized market summary here. This box intentionally contains a long sentence that may expand after translation and should remain editable.</a:t>
            </a:r>
            <a:endParaRPr lang="en-US" sz="1200" dirty="0"/>
          </a:p>
        </p:txBody>
      </p:sp>
      <p:sp>
        <p:nvSpPr>
          <p:cNvPr id="12" name="Text 10"/>
          <p:cNvSpPr/>
          <p:nvPr/>
        </p:nvSpPr>
        <p:spPr>
          <a:xfrm>
            <a:off x="7315200" y="3319272"/>
            <a:ext cx="2468880" cy="914400"/>
          </a:xfrm>
          <a:prstGeom prst="rect">
            <a:avLst/>
          </a:prstGeom>
          <a:noFill/>
          <a:ln/>
        </p:spPr>
        <p:txBody>
          <a:bodyPr wrap="square" lIns="508" tIns="508" rIns="508" bIns="508" rtlCol="0" anchor="ctr"/>
          <a:lstStyle/>
          <a:p>
            <a:pPr indent="0" marL="0">
              <a:buNone/>
            </a:pPr>
            <a:r>
              <a:rPr lang="en-US" sz="1100" dirty="0">
                <a:solidFill>
                  <a:srgbClr val="1F2937"/>
                </a:solidFill>
              </a:rPr>
              <a:t>Short labels:</a:t>
            </a:r>
            <a:endParaRPr lang="en-US" sz="1100" dirty="0"/>
          </a:p>
          <a:p>
            <a:pPr indent="0" marL="0">
              <a:buNone/>
            </a:pPr>
            <a:r>
              <a:rPr lang="en-US" sz="1100" dirty="0">
                <a:solidFill>
                  <a:srgbClr val="1F2937"/>
                </a:solidFill>
              </a:rPr>
              <a:t>OK</a:t>
            </a:r>
            <a:endParaRPr lang="en-US" sz="1100" dirty="0"/>
          </a:p>
          <a:p>
            <a:pPr indent="0" marL="0">
              <a:buNone/>
            </a:pPr>
            <a:r>
              <a:rPr lang="en-US" sz="1100" dirty="0">
                <a:solidFill>
                  <a:srgbClr val="1F2937"/>
                </a:solidFill>
              </a:rPr>
              <a:t>Cancel</a:t>
            </a:r>
            <a:endParaRPr lang="en-US" sz="1100" dirty="0"/>
          </a:p>
          <a:p>
            <a:pPr indent="0" marL="0">
              <a:buNone/>
            </a:pPr>
            <a:r>
              <a:rPr lang="en-US" sz="1100" dirty="0">
                <a:solidFill>
                  <a:srgbClr val="1F2937"/>
                </a:solidFill>
              </a:rPr>
              <a:t>Save changes</a:t>
            </a:r>
            <a:endParaRPr lang="en-US" sz="1100" dirty="0"/>
          </a:p>
          <a:p>
            <a:pPr indent="0" marL="0">
              <a:buNone/>
            </a:pPr>
            <a:r>
              <a:rPr lang="en-US" sz="1100" dirty="0">
                <a:solidFill>
                  <a:srgbClr val="1F2937"/>
                </a:solidFill>
              </a:rPr>
              <a:t>Try again later</a:t>
            </a:r>
            <a:endParaRPr lang="en-US" sz="1100" dirty="0"/>
          </a:p>
        </p:txBody>
      </p:sp>
      <p:sp>
        <p:nvSpPr>
          <p:cNvPr id="13" name="Text 11"/>
          <p:cNvSpPr/>
          <p:nvPr/>
        </p:nvSpPr>
        <p:spPr>
          <a:xfrm>
            <a:off x="3840480" y="6400800"/>
            <a:ext cx="4389120" cy="164592"/>
          </a:xfrm>
          <a:prstGeom prst="rect">
            <a:avLst/>
          </a:prstGeom>
          <a:noFill/>
          <a:ln/>
        </p:spPr>
        <p:txBody>
          <a:bodyPr wrap="square" lIns="0" tIns="0" rIns="0" bIns="0" rtlCol="0" anchor="ctr"/>
          <a:lstStyle/>
          <a:p>
            <a:pPr algn="ctr" indent="0" marL="0">
              <a:buNone/>
            </a:pPr>
            <a:r>
              <a:rPr lang="en-US" sz="700" dirty="0">
                <a:solidFill>
                  <a:srgbClr val="7A869A"/>
                </a:solidFill>
              </a:rPr>
              <a:t>Ready for localization</a:t>
            </a:r>
            <a:endParaRPr lang="en-US" sz="7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Independent UI text boxes</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Multiple separate shapes with short and long business strings</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4</a:t>
            </a:r>
            <a:endParaRPr lang="en-US" sz="750" dirty="0"/>
          </a:p>
        </p:txBody>
      </p:sp>
      <p:sp>
        <p:nvSpPr>
          <p:cNvPr id="6" name="Shape 4"/>
          <p:cNvSpPr/>
          <p:nvPr/>
        </p:nvSpPr>
        <p:spPr>
          <a:xfrm>
            <a:off x="731520" y="1234440"/>
            <a:ext cx="3246120" cy="1234440"/>
          </a:xfrm>
          <a:prstGeom prst="roundRect">
            <a:avLst>
              <a:gd name="adj" fmla="val 4444"/>
            </a:avLst>
          </a:prstGeom>
          <a:solidFill>
            <a:srgbClr val="EAF2FF"/>
          </a:solidFill>
          <a:ln w="12700">
            <a:solidFill>
              <a:srgbClr val="D8DEE9">
                <a:alpha val="40000"/>
              </a:srgbClr>
            </a:solidFill>
            <a:prstDash val="solid"/>
          </a:ln>
        </p:spPr>
      </p:sp>
      <p:sp>
        <p:nvSpPr>
          <p:cNvPr id="7" name="Text 5"/>
          <p:cNvSpPr/>
          <p:nvPr/>
        </p:nvSpPr>
        <p:spPr>
          <a:xfrm>
            <a:off x="896112" y="1399032"/>
            <a:ext cx="2834640" cy="182880"/>
          </a:xfrm>
          <a:prstGeom prst="rect">
            <a:avLst/>
          </a:prstGeom>
          <a:noFill/>
          <a:ln/>
        </p:spPr>
        <p:txBody>
          <a:bodyPr wrap="square" lIns="0" tIns="0" rIns="0" bIns="0" rtlCol="0" anchor="ctr"/>
          <a:lstStyle/>
          <a:p>
            <a:pPr indent="0" marL="0">
              <a:buNone/>
            </a:pPr>
            <a:r>
              <a:rPr lang="en-US" sz="900" b="1" dirty="0">
                <a:solidFill>
                  <a:srgbClr val="5E6C84"/>
                </a:solidFill>
              </a:rPr>
              <a:t>Button label</a:t>
            </a:r>
            <a:endParaRPr lang="en-US" sz="900" dirty="0"/>
          </a:p>
        </p:txBody>
      </p:sp>
      <p:sp>
        <p:nvSpPr>
          <p:cNvPr id="8" name="Text 6"/>
          <p:cNvSpPr/>
          <p:nvPr/>
        </p:nvSpPr>
        <p:spPr>
          <a:xfrm>
            <a:off x="896112" y="1691640"/>
            <a:ext cx="2834640" cy="512064"/>
          </a:xfrm>
          <a:prstGeom prst="rect">
            <a:avLst/>
          </a:prstGeom>
          <a:noFill/>
          <a:ln/>
        </p:spPr>
        <p:txBody>
          <a:bodyPr wrap="square" lIns="254" tIns="254" rIns="254" bIns="254" rtlCol="0" anchor="ctr">
            <a:normAutofit/>
          </a:bodyPr>
          <a:lstStyle/>
          <a:p>
            <a:pPr indent="0" marL="0">
              <a:buNone/>
            </a:pPr>
            <a:r>
              <a:rPr lang="en-US" sz="1200" dirty="0">
                <a:solidFill>
                  <a:srgbClr val="1F2937"/>
                </a:solidFill>
              </a:rPr>
              <a:t>Save changes</a:t>
            </a:r>
            <a:endParaRPr lang="en-US" sz="1200" dirty="0"/>
          </a:p>
        </p:txBody>
      </p:sp>
      <p:sp>
        <p:nvSpPr>
          <p:cNvPr id="9" name="Shape 7"/>
          <p:cNvSpPr/>
          <p:nvPr/>
        </p:nvSpPr>
        <p:spPr>
          <a:xfrm>
            <a:off x="4480560" y="1234440"/>
            <a:ext cx="3246120" cy="1234440"/>
          </a:xfrm>
          <a:prstGeom prst="roundRect">
            <a:avLst>
              <a:gd name="adj" fmla="val 4444"/>
            </a:avLst>
          </a:prstGeom>
          <a:solidFill>
            <a:srgbClr val="F4F7FB"/>
          </a:solidFill>
          <a:ln w="12700">
            <a:solidFill>
              <a:srgbClr val="D8DEE9">
                <a:alpha val="40000"/>
              </a:srgbClr>
            </a:solidFill>
            <a:prstDash val="solid"/>
          </a:ln>
        </p:spPr>
      </p:sp>
      <p:sp>
        <p:nvSpPr>
          <p:cNvPr id="10" name="Text 8"/>
          <p:cNvSpPr/>
          <p:nvPr/>
        </p:nvSpPr>
        <p:spPr>
          <a:xfrm>
            <a:off x="4645152" y="1399032"/>
            <a:ext cx="2834640" cy="182880"/>
          </a:xfrm>
          <a:prstGeom prst="rect">
            <a:avLst/>
          </a:prstGeom>
          <a:noFill/>
          <a:ln/>
        </p:spPr>
        <p:txBody>
          <a:bodyPr wrap="square" lIns="0" tIns="0" rIns="0" bIns="0" rtlCol="0" anchor="ctr"/>
          <a:lstStyle/>
          <a:p>
            <a:pPr indent="0" marL="0">
              <a:buNone/>
            </a:pPr>
            <a:r>
              <a:rPr lang="en-US" sz="900" b="1" dirty="0">
                <a:solidFill>
                  <a:srgbClr val="5E6C84"/>
                </a:solidFill>
              </a:rPr>
              <a:t>Toast message</a:t>
            </a:r>
            <a:endParaRPr lang="en-US" sz="900" dirty="0"/>
          </a:p>
        </p:txBody>
      </p:sp>
      <p:sp>
        <p:nvSpPr>
          <p:cNvPr id="11" name="Text 9"/>
          <p:cNvSpPr/>
          <p:nvPr/>
        </p:nvSpPr>
        <p:spPr>
          <a:xfrm>
            <a:off x="4645152" y="1691640"/>
            <a:ext cx="2834640" cy="512064"/>
          </a:xfrm>
          <a:prstGeom prst="rect">
            <a:avLst/>
          </a:prstGeom>
          <a:noFill/>
          <a:ln/>
        </p:spPr>
        <p:txBody>
          <a:bodyPr wrap="square" lIns="254" tIns="254" rIns="254" bIns="254" rtlCol="0" anchor="ctr">
            <a:normAutofit/>
          </a:bodyPr>
          <a:lstStyle/>
          <a:p>
            <a:pPr indent="0" marL="0">
              <a:buNone/>
            </a:pPr>
            <a:r>
              <a:rPr lang="en-US" sz="1200" dirty="0">
                <a:solidFill>
                  <a:srgbClr val="1F2937"/>
                </a:solidFill>
              </a:rPr>
              <a:t>Your settings were updated successfully.</a:t>
            </a:r>
            <a:endParaRPr lang="en-US" sz="1200" dirty="0"/>
          </a:p>
        </p:txBody>
      </p:sp>
      <p:sp>
        <p:nvSpPr>
          <p:cNvPr id="12" name="Shape 10"/>
          <p:cNvSpPr/>
          <p:nvPr/>
        </p:nvSpPr>
        <p:spPr>
          <a:xfrm>
            <a:off x="8229600" y="1234440"/>
            <a:ext cx="3246120" cy="1234440"/>
          </a:xfrm>
          <a:prstGeom prst="roundRect">
            <a:avLst>
              <a:gd name="adj" fmla="val 4444"/>
            </a:avLst>
          </a:prstGeom>
          <a:solidFill>
            <a:srgbClr val="EAF2FF"/>
          </a:solidFill>
          <a:ln w="12700">
            <a:solidFill>
              <a:srgbClr val="D8DEE9">
                <a:alpha val="40000"/>
              </a:srgbClr>
            </a:solidFill>
            <a:prstDash val="solid"/>
          </a:ln>
        </p:spPr>
      </p:sp>
      <p:sp>
        <p:nvSpPr>
          <p:cNvPr id="13" name="Text 11"/>
          <p:cNvSpPr/>
          <p:nvPr/>
        </p:nvSpPr>
        <p:spPr>
          <a:xfrm>
            <a:off x="8394192" y="1399032"/>
            <a:ext cx="2834640" cy="182880"/>
          </a:xfrm>
          <a:prstGeom prst="rect">
            <a:avLst/>
          </a:prstGeom>
          <a:noFill/>
          <a:ln/>
        </p:spPr>
        <p:txBody>
          <a:bodyPr wrap="square" lIns="0" tIns="0" rIns="0" bIns="0" rtlCol="0" anchor="ctr"/>
          <a:lstStyle/>
          <a:p>
            <a:pPr indent="0" marL="0">
              <a:buNone/>
            </a:pPr>
            <a:r>
              <a:rPr lang="en-US" sz="900" b="1" dirty="0">
                <a:solidFill>
                  <a:srgbClr val="5E6C84"/>
                </a:solidFill>
              </a:rPr>
              <a:t>Dialog title</a:t>
            </a:r>
            <a:endParaRPr lang="en-US" sz="900" dirty="0"/>
          </a:p>
        </p:txBody>
      </p:sp>
      <p:sp>
        <p:nvSpPr>
          <p:cNvPr id="14" name="Text 12"/>
          <p:cNvSpPr/>
          <p:nvPr/>
        </p:nvSpPr>
        <p:spPr>
          <a:xfrm>
            <a:off x="8394192" y="1691640"/>
            <a:ext cx="2834640" cy="512064"/>
          </a:xfrm>
          <a:prstGeom prst="rect">
            <a:avLst/>
          </a:prstGeom>
          <a:noFill/>
          <a:ln/>
        </p:spPr>
        <p:txBody>
          <a:bodyPr wrap="square" lIns="254" tIns="254" rIns="254" bIns="254" rtlCol="0" anchor="ctr">
            <a:normAutofit/>
          </a:bodyPr>
          <a:lstStyle/>
          <a:p>
            <a:pPr indent="0" marL="0">
              <a:buNone/>
            </a:pPr>
            <a:r>
              <a:rPr lang="en-US" sz="1200" dirty="0">
                <a:solidFill>
                  <a:srgbClr val="1F2937"/>
                </a:solidFill>
              </a:rPr>
              <a:t>Unsaved changes</a:t>
            </a:r>
            <a:endParaRPr lang="en-US" sz="1200" dirty="0"/>
          </a:p>
        </p:txBody>
      </p:sp>
      <p:sp>
        <p:nvSpPr>
          <p:cNvPr id="15" name="Shape 13"/>
          <p:cNvSpPr/>
          <p:nvPr/>
        </p:nvSpPr>
        <p:spPr>
          <a:xfrm>
            <a:off x="731520" y="3108960"/>
            <a:ext cx="3246120" cy="1234440"/>
          </a:xfrm>
          <a:prstGeom prst="roundRect">
            <a:avLst>
              <a:gd name="adj" fmla="val 4444"/>
            </a:avLst>
          </a:prstGeom>
          <a:solidFill>
            <a:srgbClr val="F4F7FB"/>
          </a:solidFill>
          <a:ln w="12700">
            <a:solidFill>
              <a:srgbClr val="D8DEE9">
                <a:alpha val="40000"/>
              </a:srgbClr>
            </a:solidFill>
            <a:prstDash val="solid"/>
          </a:ln>
        </p:spPr>
      </p:sp>
      <p:sp>
        <p:nvSpPr>
          <p:cNvPr id="16" name="Text 14"/>
          <p:cNvSpPr/>
          <p:nvPr/>
        </p:nvSpPr>
        <p:spPr>
          <a:xfrm>
            <a:off x="896112" y="3273552"/>
            <a:ext cx="2834640" cy="182880"/>
          </a:xfrm>
          <a:prstGeom prst="rect">
            <a:avLst/>
          </a:prstGeom>
          <a:noFill/>
          <a:ln/>
        </p:spPr>
        <p:txBody>
          <a:bodyPr wrap="square" lIns="0" tIns="0" rIns="0" bIns="0" rtlCol="0" anchor="ctr"/>
          <a:lstStyle/>
          <a:p>
            <a:pPr indent="0" marL="0">
              <a:buNone/>
            </a:pPr>
            <a:r>
              <a:rPr lang="en-US" sz="900" b="1" dirty="0">
                <a:solidFill>
                  <a:srgbClr val="5E6C84"/>
                </a:solidFill>
              </a:rPr>
              <a:t>Warning</a:t>
            </a:r>
            <a:endParaRPr lang="en-US" sz="900" dirty="0"/>
          </a:p>
        </p:txBody>
      </p:sp>
      <p:sp>
        <p:nvSpPr>
          <p:cNvPr id="17" name="Text 15"/>
          <p:cNvSpPr/>
          <p:nvPr/>
        </p:nvSpPr>
        <p:spPr>
          <a:xfrm>
            <a:off x="896112" y="3566160"/>
            <a:ext cx="2834640" cy="512064"/>
          </a:xfrm>
          <a:prstGeom prst="rect">
            <a:avLst/>
          </a:prstGeom>
          <a:noFill/>
          <a:ln/>
        </p:spPr>
        <p:txBody>
          <a:bodyPr wrap="square" lIns="254" tIns="254" rIns="254" bIns="254" rtlCol="0" anchor="ctr">
            <a:normAutofit/>
          </a:bodyPr>
          <a:lstStyle/>
          <a:p>
            <a:pPr indent="0" marL="0">
              <a:buNone/>
            </a:pPr>
            <a:r>
              <a:rPr lang="en-US" sz="1200" dirty="0">
                <a:solidFill>
                  <a:srgbClr val="1F2937"/>
                </a:solidFill>
              </a:rPr>
              <a:t>This action cannot be undone.</a:t>
            </a:r>
            <a:endParaRPr lang="en-US" sz="1200" dirty="0"/>
          </a:p>
        </p:txBody>
      </p:sp>
      <p:sp>
        <p:nvSpPr>
          <p:cNvPr id="18" name="Shape 16"/>
          <p:cNvSpPr/>
          <p:nvPr/>
        </p:nvSpPr>
        <p:spPr>
          <a:xfrm>
            <a:off x="4480560" y="3108960"/>
            <a:ext cx="3246120" cy="1234440"/>
          </a:xfrm>
          <a:prstGeom prst="roundRect">
            <a:avLst>
              <a:gd name="adj" fmla="val 4444"/>
            </a:avLst>
          </a:prstGeom>
          <a:solidFill>
            <a:srgbClr val="EAF2FF"/>
          </a:solidFill>
          <a:ln w="12700">
            <a:solidFill>
              <a:srgbClr val="D8DEE9">
                <a:alpha val="40000"/>
              </a:srgbClr>
            </a:solidFill>
            <a:prstDash val="solid"/>
          </a:ln>
        </p:spPr>
      </p:sp>
      <p:sp>
        <p:nvSpPr>
          <p:cNvPr id="19" name="Text 17"/>
          <p:cNvSpPr/>
          <p:nvPr/>
        </p:nvSpPr>
        <p:spPr>
          <a:xfrm>
            <a:off x="4645152" y="3273552"/>
            <a:ext cx="2834640" cy="182880"/>
          </a:xfrm>
          <a:prstGeom prst="rect">
            <a:avLst/>
          </a:prstGeom>
          <a:noFill/>
          <a:ln/>
        </p:spPr>
        <p:txBody>
          <a:bodyPr wrap="square" lIns="0" tIns="0" rIns="0" bIns="0" rtlCol="0" anchor="ctr"/>
          <a:lstStyle/>
          <a:p>
            <a:pPr indent="0" marL="0">
              <a:buNone/>
            </a:pPr>
            <a:r>
              <a:rPr lang="en-US" sz="900" b="1" dirty="0">
                <a:solidFill>
                  <a:srgbClr val="5E6C84"/>
                </a:solidFill>
              </a:rPr>
              <a:t>Empty state</a:t>
            </a:r>
            <a:endParaRPr lang="en-US" sz="900" dirty="0"/>
          </a:p>
        </p:txBody>
      </p:sp>
      <p:sp>
        <p:nvSpPr>
          <p:cNvPr id="20" name="Text 18"/>
          <p:cNvSpPr/>
          <p:nvPr/>
        </p:nvSpPr>
        <p:spPr>
          <a:xfrm>
            <a:off x="4645152" y="3566160"/>
            <a:ext cx="2834640" cy="512064"/>
          </a:xfrm>
          <a:prstGeom prst="rect">
            <a:avLst/>
          </a:prstGeom>
          <a:noFill/>
          <a:ln/>
        </p:spPr>
        <p:txBody>
          <a:bodyPr wrap="square" lIns="254" tIns="254" rIns="254" bIns="254" rtlCol="0" anchor="ctr">
            <a:normAutofit/>
          </a:bodyPr>
          <a:lstStyle/>
          <a:p>
            <a:pPr indent="0" marL="0">
              <a:buNone/>
            </a:pPr>
            <a:r>
              <a:rPr lang="en-US" sz="1200" dirty="0">
                <a:solidFill>
                  <a:srgbClr val="1F2937"/>
                </a:solidFill>
              </a:rPr>
              <a:t>No invoices match your filters. Try a wider date range.</a:t>
            </a:r>
            <a:endParaRPr lang="en-US" sz="1200" dirty="0"/>
          </a:p>
        </p:txBody>
      </p:sp>
      <p:sp>
        <p:nvSpPr>
          <p:cNvPr id="21" name="Shape 19"/>
          <p:cNvSpPr/>
          <p:nvPr/>
        </p:nvSpPr>
        <p:spPr>
          <a:xfrm>
            <a:off x="8229600" y="3108960"/>
            <a:ext cx="3246120" cy="1234440"/>
          </a:xfrm>
          <a:prstGeom prst="roundRect">
            <a:avLst>
              <a:gd name="adj" fmla="val 4444"/>
            </a:avLst>
          </a:prstGeom>
          <a:solidFill>
            <a:srgbClr val="F4F7FB"/>
          </a:solidFill>
          <a:ln w="12700">
            <a:solidFill>
              <a:srgbClr val="D8DEE9">
                <a:alpha val="40000"/>
              </a:srgbClr>
            </a:solidFill>
            <a:prstDash val="solid"/>
          </a:ln>
        </p:spPr>
      </p:sp>
      <p:sp>
        <p:nvSpPr>
          <p:cNvPr id="22" name="Text 20"/>
          <p:cNvSpPr/>
          <p:nvPr/>
        </p:nvSpPr>
        <p:spPr>
          <a:xfrm>
            <a:off x="8394192" y="3273552"/>
            <a:ext cx="2834640" cy="182880"/>
          </a:xfrm>
          <a:prstGeom prst="rect">
            <a:avLst/>
          </a:prstGeom>
          <a:noFill/>
          <a:ln/>
        </p:spPr>
        <p:txBody>
          <a:bodyPr wrap="square" lIns="0" tIns="0" rIns="0" bIns="0" rtlCol="0" anchor="ctr"/>
          <a:lstStyle/>
          <a:p>
            <a:pPr indent="0" marL="0">
              <a:buNone/>
            </a:pPr>
            <a:r>
              <a:rPr lang="en-US" sz="900" b="1" dirty="0">
                <a:solidFill>
                  <a:srgbClr val="5E6C84"/>
                </a:solidFill>
              </a:rPr>
              <a:t>Tooltip</a:t>
            </a:r>
            <a:endParaRPr lang="en-US" sz="900" dirty="0"/>
          </a:p>
        </p:txBody>
      </p:sp>
      <p:sp>
        <p:nvSpPr>
          <p:cNvPr id="23" name="Text 21"/>
          <p:cNvSpPr/>
          <p:nvPr/>
        </p:nvSpPr>
        <p:spPr>
          <a:xfrm>
            <a:off x="8394192" y="3566160"/>
            <a:ext cx="2834640" cy="512064"/>
          </a:xfrm>
          <a:prstGeom prst="rect">
            <a:avLst/>
          </a:prstGeom>
          <a:noFill/>
          <a:ln/>
        </p:spPr>
        <p:txBody>
          <a:bodyPr wrap="square" lIns="254" tIns="254" rIns="254" bIns="254" rtlCol="0" anchor="ctr">
            <a:normAutofit/>
          </a:bodyPr>
          <a:lstStyle/>
          <a:p>
            <a:pPr indent="0" marL="0">
              <a:buNone/>
            </a:pPr>
            <a:r>
              <a:rPr lang="en-US" sz="1200" dirty="0">
                <a:solidFill>
                  <a:srgbClr val="1F2937"/>
                </a:solidFill>
              </a:rPr>
              <a:t>Export includes archived records and hidden columns.</a:t>
            </a:r>
            <a:endParaRPr lang="en-US" sz="1200" dirty="0"/>
          </a:p>
        </p:txBody>
      </p:sp>
      <p:sp>
        <p:nvSpPr>
          <p:cNvPr id="24" name="Text 22"/>
          <p:cNvSpPr/>
          <p:nvPr/>
        </p:nvSpPr>
        <p:spPr>
          <a:xfrm>
            <a:off x="777240" y="5303520"/>
            <a:ext cx="9875520" cy="384048"/>
          </a:xfrm>
          <a:prstGeom prst="rect">
            <a:avLst/>
          </a:prstGeom>
          <a:noFill/>
          <a:ln/>
        </p:spPr>
        <p:txBody>
          <a:bodyPr wrap="square" lIns="254" tIns="254" rIns="254" bIns="254" rtlCol="0" anchor="ctr"/>
          <a:lstStyle/>
          <a:p>
            <a:pPr indent="0" marL="0">
              <a:buNone/>
            </a:pPr>
            <a:r>
              <a:rPr lang="en-US" sz="1100" i="1" dirty="0">
                <a:solidFill>
                  <a:srgbClr val="5E6C84"/>
                </a:solidFill>
              </a:rPr>
              <a:t>Note: Each item above is a separate editable text element, useful for comparing extraction order and matching repeated UI strings.</a:t>
            </a:r>
            <a:endParaRPr lang="en-US" sz="1100" dirty="0"/>
          </a:p>
        </p:txBody>
      </p:sp>
      <p:sp>
        <p:nvSpPr>
          <p:cNvPr id="25" name="Text 23"/>
          <p:cNvSpPr/>
          <p:nvPr/>
        </p:nvSpPr>
        <p:spPr>
          <a:xfrm>
            <a:off x="3840480" y="6400800"/>
            <a:ext cx="4389120" cy="164592"/>
          </a:xfrm>
          <a:prstGeom prst="rect">
            <a:avLst/>
          </a:prstGeom>
          <a:noFill/>
          <a:ln/>
        </p:spPr>
        <p:txBody>
          <a:bodyPr wrap="square" lIns="0" tIns="0" rIns="0" bIns="0" rtlCol="0" anchor="ctr"/>
          <a:lstStyle/>
          <a:p>
            <a:pPr algn="ctr" indent="0" marL="0">
              <a:buNone/>
            </a:pPr>
            <a:r>
              <a:rPr lang="en-US" sz="700" dirty="0">
                <a:solidFill>
                  <a:srgbClr val="7A869A"/>
                </a:solidFill>
              </a:rPr>
              <a:t>Repeated phrase: Save changes</a:t>
            </a:r>
            <a:endParaRPr lang="en-US" sz="7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Regional sales performance</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Simple editable table with short and long cell text</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5</a:t>
            </a:r>
            <a:endParaRPr lang="en-US" sz="7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234440"/>
          <a:ext cx="10789920" cy="3337560"/>
        </p:xfrm>
        <a:graphic>
          <a:graphicData uri="http://schemas.openxmlformats.org/drawingml/2006/table">
            <a:tbl>
              <a:tblPr/>
              <a:tblGrid>
                <a:gridCol w="1920240"/>
                <a:gridCol w="1371600"/>
                <a:gridCol w="1005840"/>
                <a:gridCol w="6492240"/>
              </a:tblGrid>
              <a:tr h="384048">
                <a:tc>
                  <a:txBody>
                    <a:bodyPr/>
                    <a:lstStyle/>
                    <a:p>
                      <a:pPr indent="0" marL="0">
                        <a:buNone/>
                      </a:pPr>
                      <a:r>
                        <a:rPr lang="en-US" sz="1000" b="1" dirty="0">
                          <a:solidFill>
                            <a:srgbClr val="FFFFFF"/>
                          </a:solidFill>
                          <a:latin typeface="Aptos" pitchFamily="34" charset="0"/>
                          <a:ea typeface="Aptos" pitchFamily="34" charset="-122"/>
                          <a:cs typeface="Aptos" pitchFamily="34" charset="-120"/>
                        </a:rPr>
                        <a:t>Region</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FFFFFF"/>
                          </a:solidFill>
                          <a:latin typeface="Aptos" pitchFamily="34" charset="0"/>
                          <a:ea typeface="Aptos" pitchFamily="34" charset="-122"/>
                          <a:cs typeface="Aptos" pitchFamily="34" charset="-120"/>
                        </a:rPr>
                        <a:t>Q2 Revenue</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FFFFFF"/>
                          </a:solidFill>
                          <a:latin typeface="Aptos" pitchFamily="34" charset="0"/>
                          <a:ea typeface="Aptos" pitchFamily="34" charset="-122"/>
                          <a:cs typeface="Aptos" pitchFamily="34" charset="-120"/>
                        </a:rPr>
                        <a:t>Growth</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FFFFFF"/>
                          </a:solidFill>
                          <a:latin typeface="Aptos" pitchFamily="34" charset="0"/>
                          <a:ea typeface="Aptos" pitchFamily="34" charset="-122"/>
                          <a:cs typeface="Aptos" pitchFamily="34" charset="-120"/>
                        </a:rPr>
                        <a:t>Comment</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F2937"/>
                          </a:solidFill>
                          <a:latin typeface="Aptos" pitchFamily="34" charset="0"/>
                          <a:ea typeface="Aptos" pitchFamily="34" charset="-122"/>
                          <a:cs typeface="Aptos" pitchFamily="34" charset="-120"/>
                        </a:rPr>
                        <a:t>North America</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$4.8M</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+12%</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Renewals are strong; enterprise expansion is ahead of plan.</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F2937"/>
                          </a:solidFill>
                          <a:latin typeface="Aptos" pitchFamily="34" charset="0"/>
                          <a:ea typeface="Aptos" pitchFamily="34" charset="-122"/>
                          <a:cs typeface="Aptos" pitchFamily="34" charset="-120"/>
                        </a:rPr>
                        <a:t>Europe</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$3.2M</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+18%</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Translation coverage increased for German, French, and Spanish.</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000" dirty="0">
                          <a:solidFill>
                            <a:srgbClr val="1F2937"/>
                          </a:solidFill>
                          <a:latin typeface="Aptos" pitchFamily="34" charset="0"/>
                          <a:ea typeface="Aptos" pitchFamily="34" charset="-122"/>
                          <a:cs typeface="Aptos" pitchFamily="34" charset="-120"/>
                        </a:rPr>
                        <a:t>APAC</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$2.1M</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+9%</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Long cell text: channel partner onboarding is slower than expected but improving.</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F2937"/>
                          </a:solidFill>
                          <a:latin typeface="Aptos" pitchFamily="34" charset="0"/>
                          <a:ea typeface="Aptos" pitchFamily="34" charset="-122"/>
                          <a:cs typeface="Aptos" pitchFamily="34" charset="-120"/>
                        </a:rPr>
                        <a:t>LATAM</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$1.0M</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+22%</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ptos" pitchFamily="34" charset="0"/>
                          <a:ea typeface="Aptos" pitchFamily="34" charset="-122"/>
                          <a:cs typeface="Aptos" pitchFamily="34" charset="-120"/>
                        </a:rPr>
                        <a:t>Pilot accounts moved from trial to paid subscriptions.</a:t>
                      </a:r>
                      <a:endParaRPr lang="en-US" sz="1000" dirty="0">
                        <a:latin typeface="Aptos" charset="0"/>
                        <a:ea typeface="Aptos" charset="0"/>
                        <a:cs typeface="Aptos" charset="0"/>
                      </a:endParaRPr>
                    </a:p>
                  </a:txBody>
                  <a:tcPr marL="54864" marR="54864" marT="54864" marB="54864"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4"/>
          <p:cNvSpPr/>
          <p:nvPr/>
        </p:nvSpPr>
        <p:spPr>
          <a:xfrm>
            <a:off x="749808" y="4983480"/>
            <a:ext cx="7315200" cy="274320"/>
          </a:xfrm>
          <a:prstGeom prst="rect">
            <a:avLst/>
          </a:prstGeom>
          <a:noFill/>
          <a:ln/>
        </p:spPr>
        <p:txBody>
          <a:bodyPr wrap="square" lIns="0" tIns="0" rIns="0" bIns="0" rtlCol="0" anchor="ctr"/>
          <a:lstStyle/>
          <a:p>
            <a:pPr indent="0" marL="0">
              <a:buNone/>
            </a:pPr>
            <a:r>
              <a:rPr lang="en-US" sz="1100" dirty="0">
                <a:solidFill>
                  <a:srgbClr val="5E6C84"/>
                </a:solidFill>
              </a:rPr>
              <a:t>Table QA checks: cell order, currency symbols, plus signs, hyphenated terms, and long comments.</a:t>
            </a:r>
            <a:endParaRPr lang="en-US" sz="11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Customer support metrics</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Complex table with merged-looking headers and mixed content length</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6</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78992"/>
          <a:ext cx="11064240" cy="3931920"/>
        </p:xfrm>
        <a:graphic>
          <a:graphicData uri="http://schemas.openxmlformats.org/drawingml/2006/table">
            <a:tbl>
              <a:tblPr/>
              <a:tblGrid>
                <a:gridCol w="1828800"/>
                <a:gridCol w="1417320"/>
                <a:gridCol w="2743200"/>
                <a:gridCol w="1417320"/>
                <a:gridCol w="2743200"/>
              </a:tblGrid>
              <a:tr h="402336">
                <a:tc>
                  <a:txBody>
                    <a:bodyPr/>
                    <a:lstStyle/>
                    <a:p>
                      <a:pPr indent="0" marL="0">
                        <a:buNone/>
                      </a:pPr>
                      <a:r>
                        <a:rPr lang="en-US" sz="920" b="1" dirty="0">
                          <a:solidFill>
                            <a:srgbClr val="FFFFFF"/>
                          </a:solidFill>
                          <a:latin typeface="Aptos" pitchFamily="34" charset="0"/>
                          <a:ea typeface="Aptos" pitchFamily="34" charset="-122"/>
                          <a:cs typeface="Aptos" pitchFamily="34" charset="-120"/>
                        </a:rPr>
                        <a:t>Metric group</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55B"/>
                    </a:solidFill>
                  </a:tcPr>
                </a:tc>
                <a:tc>
                  <a:txBody>
                    <a:bodyPr/>
                    <a:lstStyle/>
                    <a:p>
                      <a:pPr indent="0" marL="0">
                        <a:buNone/>
                      </a:pPr>
                      <a:r>
                        <a:rPr lang="en-US" sz="920" b="1" dirty="0">
                          <a:solidFill>
                            <a:srgbClr val="FFFFFF"/>
                          </a:solidFill>
                          <a:latin typeface="Aptos" pitchFamily="34" charset="0"/>
                          <a:ea typeface="Aptos" pitchFamily="34" charset="-122"/>
                          <a:cs typeface="Aptos" pitchFamily="34" charset="-120"/>
                        </a:rPr>
                        <a:t>January–March 2026</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55B"/>
                    </a:solidFill>
                  </a:tcPr>
                </a:tc>
                <a:tc>
                  <a:txBody>
                    <a:bodyPr/>
                    <a:lstStyle/>
                    <a:p>
                      <a:pPr indent="0" marL="0">
                        <a:buNone/>
                      </a:pP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55B"/>
                    </a:solidFill>
                  </a:tcPr>
                </a:tc>
                <a:tc>
                  <a:txBody>
                    <a:bodyPr/>
                    <a:lstStyle/>
                    <a:p>
                      <a:pPr indent="0" marL="0">
                        <a:buNone/>
                      </a:pPr>
                      <a:r>
                        <a:rPr lang="en-US" sz="920" b="1" dirty="0">
                          <a:solidFill>
                            <a:srgbClr val="FFFFFF"/>
                          </a:solidFill>
                          <a:latin typeface="Aptos" pitchFamily="34" charset="0"/>
                          <a:ea typeface="Aptos" pitchFamily="34" charset="-122"/>
                          <a:cs typeface="Aptos" pitchFamily="34" charset="-120"/>
                        </a:rPr>
                        <a:t>April–June 2026</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55B"/>
                    </a:solidFill>
                  </a:tcPr>
                </a:tc>
                <a:tc>
                  <a:txBody>
                    <a:bodyPr/>
                    <a:lstStyle/>
                    <a:p>
                      <a:pPr indent="0" marL="0">
                        <a:buNone/>
                      </a:pP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2355B"/>
                    </a:solidFill>
                  </a:tcPr>
                </a:tc>
              </a:tr>
              <a:tr h="384048">
                <a:tc>
                  <a:txBody>
                    <a:bodyPr/>
                    <a:lstStyle/>
                    <a:p>
                      <a:pPr indent="0" marL="0">
                        <a:buNone/>
                      </a:pPr>
                      <a:r>
                        <a:rPr lang="en-US" sz="920" b="1" dirty="0">
                          <a:solidFill>
                            <a:srgbClr val="1F2937"/>
                          </a:solidFill>
                          <a:latin typeface="Aptos" pitchFamily="34" charset="0"/>
                          <a:ea typeface="Aptos" pitchFamily="34" charset="-122"/>
                          <a:cs typeface="Aptos" pitchFamily="34" charset="-120"/>
                        </a:rPr>
                        <a:t>KPI</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DEBFF"/>
                    </a:solidFill>
                  </a:tcPr>
                </a:tc>
                <a:tc>
                  <a:txBody>
                    <a:bodyPr/>
                    <a:lstStyle/>
                    <a:p>
                      <a:pPr indent="0" marL="0">
                        <a:buNone/>
                      </a:pPr>
                      <a:r>
                        <a:rPr lang="en-US" sz="920" b="1" dirty="0">
                          <a:solidFill>
                            <a:srgbClr val="1F2937"/>
                          </a:solidFill>
                          <a:latin typeface="Aptos" pitchFamily="34" charset="0"/>
                          <a:ea typeface="Aptos" pitchFamily="34" charset="-122"/>
                          <a:cs typeface="Aptos" pitchFamily="34" charset="-120"/>
                        </a:rPr>
                        <a:t>Target</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DEBFF"/>
                    </a:solidFill>
                  </a:tcPr>
                </a:tc>
                <a:tc>
                  <a:txBody>
                    <a:bodyPr/>
                    <a:lstStyle/>
                    <a:p>
                      <a:pPr indent="0" marL="0">
                        <a:buNone/>
                      </a:pPr>
                      <a:r>
                        <a:rPr lang="en-US" sz="920" b="1" dirty="0">
                          <a:solidFill>
                            <a:srgbClr val="1F2937"/>
                          </a:solidFill>
                          <a:latin typeface="Aptos" pitchFamily="34" charset="0"/>
                          <a:ea typeface="Aptos" pitchFamily="34" charset="-122"/>
                          <a:cs typeface="Aptos" pitchFamily="34" charset="-120"/>
                        </a:rPr>
                        <a:t>Actual</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DEBFF"/>
                    </a:solidFill>
                  </a:tcPr>
                </a:tc>
                <a:tc>
                  <a:txBody>
                    <a:bodyPr/>
                    <a:lstStyle/>
                    <a:p>
                      <a:pPr indent="0" marL="0">
                        <a:buNone/>
                      </a:pPr>
                      <a:r>
                        <a:rPr lang="en-US" sz="920" b="1" dirty="0">
                          <a:solidFill>
                            <a:srgbClr val="1F2937"/>
                          </a:solidFill>
                          <a:latin typeface="Aptos" pitchFamily="34" charset="0"/>
                          <a:ea typeface="Aptos" pitchFamily="34" charset="-122"/>
                          <a:cs typeface="Aptos" pitchFamily="34" charset="-120"/>
                        </a:rPr>
                        <a:t>Target</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DEBFF"/>
                    </a:solidFill>
                  </a:tcPr>
                </a:tc>
                <a:tc>
                  <a:txBody>
                    <a:bodyPr/>
                    <a:lstStyle/>
                    <a:p>
                      <a:pPr indent="0" marL="0">
                        <a:buNone/>
                      </a:pPr>
                      <a:r>
                        <a:rPr lang="en-US" sz="920" b="1" dirty="0">
                          <a:solidFill>
                            <a:srgbClr val="1F2937"/>
                          </a:solidFill>
                          <a:latin typeface="Aptos" pitchFamily="34" charset="0"/>
                          <a:ea typeface="Aptos" pitchFamily="34" charset="-122"/>
                          <a:cs typeface="Aptos" pitchFamily="34" charset="-120"/>
                        </a:rPr>
                        <a:t>Actual</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DEBFF"/>
                    </a:solidFill>
                  </a:tcPr>
                </a:tc>
              </a:tr>
              <a:tr h="457200">
                <a:tc>
                  <a:txBody>
                    <a:bodyPr/>
                    <a:lstStyle/>
                    <a:p>
                      <a:pPr indent="0" marL="0">
                        <a:buNone/>
                      </a:pPr>
                      <a:r>
                        <a:rPr lang="en-US" sz="920" dirty="0">
                          <a:solidFill>
                            <a:srgbClr val="1F2937"/>
                          </a:solidFill>
                          <a:latin typeface="Aptos" pitchFamily="34" charset="0"/>
                          <a:ea typeface="Aptos" pitchFamily="34" charset="-122"/>
                          <a:cs typeface="Aptos" pitchFamily="34" charset="-120"/>
                        </a:rPr>
                        <a:t>First response time</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&lt; 6h</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7.4h</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&lt; 5h</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4.6h</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57200">
                <a:tc>
                  <a:txBody>
                    <a:bodyPr/>
                    <a:lstStyle/>
                    <a:p>
                      <a:pPr indent="0" marL="0">
                        <a:buNone/>
                      </a:pPr>
                      <a:r>
                        <a:rPr lang="en-US" sz="920" dirty="0">
                          <a:solidFill>
                            <a:srgbClr val="1F2937"/>
                          </a:solidFill>
                          <a:latin typeface="Aptos" pitchFamily="34" charset="0"/>
                          <a:ea typeface="Aptos" pitchFamily="34" charset="-122"/>
                          <a:cs typeface="Aptos" pitchFamily="34" charset="-120"/>
                        </a:rPr>
                        <a:t>CSAT score</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88%</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86%</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90%</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91%</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1143000">
                <a:tc>
                  <a:txBody>
                    <a:bodyPr/>
                    <a:lstStyle/>
                    <a:p>
                      <a:pPr indent="0" marL="0">
                        <a:buNone/>
                      </a:pPr>
                      <a:r>
                        <a:rPr lang="en-US" sz="920" dirty="0">
                          <a:solidFill>
                            <a:srgbClr val="1F2937"/>
                          </a:solidFill>
                          <a:latin typeface="Aptos" pitchFamily="34" charset="0"/>
                          <a:ea typeface="Aptos" pitchFamily="34" charset="-122"/>
                          <a:cs typeface="Aptos" pitchFamily="34" charset="-120"/>
                        </a:rPr>
                        <a:t>Escalation notes</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Reduce hand-offs</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A long cell note: billing tickets often require product, finance, and legal review.</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Reduce hand-offs</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Improved routing rules reduced repeated customer explanations.</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57200">
                <a:tc>
                  <a:txBody>
                    <a:bodyPr/>
                    <a:lstStyle/>
                    <a:p>
                      <a:pPr indent="0" marL="0">
                        <a:buNone/>
                      </a:pPr>
                      <a:r>
                        <a:rPr lang="en-US" sz="920" dirty="0">
                          <a:solidFill>
                            <a:srgbClr val="1F2937"/>
                          </a:solidFill>
                          <a:latin typeface="Aptos" pitchFamily="34" charset="0"/>
                          <a:ea typeface="Aptos" pitchFamily="34" charset="-122"/>
                          <a:cs typeface="Aptos" pitchFamily="34" charset="-120"/>
                        </a:rPr>
                        <a:t>Localization tickets</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 24</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31</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 20</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20" dirty="0">
                          <a:solidFill>
                            <a:srgbClr val="1F2937"/>
                          </a:solidFill>
                          <a:latin typeface="Aptos" pitchFamily="34" charset="0"/>
                          <a:ea typeface="Aptos" pitchFamily="34" charset="-122"/>
                          <a:cs typeface="Aptos" pitchFamily="34" charset="-120"/>
                        </a:rPr>
                        <a:t>18</a:t>
                      </a:r>
                      <a:endParaRPr lang="en-US" sz="920" dirty="0">
                        <a:latin typeface="Aptos" charset="0"/>
                        <a:ea typeface="Aptos" charset="0"/>
                        <a:cs typeface="Aptos" charset="0"/>
                      </a:endParaRPr>
                    </a:p>
                  </a:txBody>
                  <a:tcPr marL="41148" marR="41148" marT="41148" marB="41148" anchor="mid">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7" name="Text 4"/>
          <p:cNvSpPr/>
          <p:nvPr/>
        </p:nvSpPr>
        <p:spPr>
          <a:xfrm>
            <a:off x="685800" y="5367528"/>
            <a:ext cx="7498080" cy="274320"/>
          </a:xfrm>
          <a:prstGeom prst="rect">
            <a:avLst/>
          </a:prstGeom>
          <a:noFill/>
          <a:ln/>
        </p:spPr>
        <p:txBody>
          <a:bodyPr wrap="square" lIns="0" tIns="0" rIns="0" bIns="0" rtlCol="0" anchor="ctr"/>
          <a:lstStyle/>
          <a:p>
            <a:pPr indent="0" marL="0">
              <a:buNone/>
            </a:pPr>
            <a:r>
              <a:rPr lang="en-US" sz="1100" dirty="0">
                <a:solidFill>
                  <a:srgbClr val="5E6C84"/>
                </a:solidFill>
              </a:rPr>
              <a:t>Merged-looking headers are included to test table parsing and cell mapping during translation.</a:t>
            </a:r>
            <a:endParaRPr lang="en-US" sz="11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Quarterly revenue by region</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Editable column chart with labels, legend, and axis titles</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7</a:t>
            </a:r>
            <a:endParaRPr lang="en-US" sz="750" dirty="0"/>
          </a:p>
        </p:txBody>
      </p:sp>
      <p:graphicFrame>
        <p:nvGraphicFramePr>
          <p:cNvPr id="6" name="Chart 0" descr=""/>
          <p:cNvGraphicFramePr/>
          <p:nvPr/>
        </p:nvGraphicFramePr>
        <p:xfrm>
          <a:off x="822960" y="1051560"/>
          <a:ext cx="10058400" cy="4251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5559552"/>
            <a:ext cx="8046720" cy="274320"/>
          </a:xfrm>
          <a:prstGeom prst="rect">
            <a:avLst/>
          </a:prstGeom>
          <a:noFill/>
          <a:ln/>
        </p:spPr>
        <p:txBody>
          <a:bodyPr wrap="square" lIns="0" tIns="0" rIns="0" bIns="0" rtlCol="0" anchor="ctr"/>
          <a:lstStyle/>
          <a:p>
            <a:pPr indent="0" marL="0">
              <a:buNone/>
            </a:pPr>
            <a:r>
              <a:rPr lang="en-US" sz="1100" dirty="0">
                <a:solidFill>
                  <a:srgbClr val="1F2937"/>
                </a:solidFill>
              </a:rPr>
              <a:t>Insight: Europe is the fastest-growing region, but North America remains the largest contributor.</a:t>
            </a:r>
            <a:endParaRPr lang="en-US" sz="11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Support ticket mix</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Editable pie chart with category labels, legend, and data labels</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8</a:t>
            </a:r>
            <a:endParaRPr lang="en-US" sz="750" dirty="0"/>
          </a:p>
        </p:txBody>
      </p:sp>
      <p:graphicFrame>
        <p:nvGraphicFramePr>
          <p:cNvPr id="6" name="Chart 0" descr=""/>
          <p:cNvGraphicFramePr/>
          <p:nvPr/>
        </p:nvGraphicFramePr>
        <p:xfrm>
          <a:off x="731520" y="1051560"/>
          <a:ext cx="5486400" cy="4389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858000" y="1417320"/>
            <a:ext cx="2743200" cy="228600"/>
          </a:xfrm>
          <a:prstGeom prst="rect">
            <a:avLst/>
          </a:prstGeom>
          <a:noFill/>
          <a:ln/>
        </p:spPr>
        <p:txBody>
          <a:bodyPr wrap="square" lIns="0" tIns="0" rIns="0" bIns="0" rtlCol="0" anchor="ctr"/>
          <a:lstStyle/>
          <a:p>
            <a:pPr indent="0" marL="0">
              <a:buNone/>
            </a:pPr>
            <a:r>
              <a:rPr lang="en-US" sz="1600" b="1" dirty="0">
                <a:solidFill>
                  <a:srgbClr val="12355B"/>
                </a:solidFill>
              </a:rPr>
              <a:t>Ticket categories</a:t>
            </a:r>
            <a:endParaRPr lang="en-US" sz="1600" dirty="0"/>
          </a:p>
        </p:txBody>
      </p:sp>
      <p:sp>
        <p:nvSpPr>
          <p:cNvPr id="8" name="Text 5"/>
          <p:cNvSpPr/>
          <p:nvPr/>
        </p:nvSpPr>
        <p:spPr>
          <a:xfrm>
            <a:off x="6903720" y="1828800"/>
            <a:ext cx="4206240" cy="1645920"/>
          </a:xfrm>
          <a:prstGeom prst="rect">
            <a:avLst/>
          </a:prstGeom>
          <a:noFill/>
          <a:ln/>
        </p:spPr>
        <p:txBody>
          <a:bodyPr wrap="square" rtlCol="0" anchor="ctr">
            <a:normAutofit/>
          </a:bodyPr>
          <a:lstStyle/>
          <a:p>
            <a:pPr indent="0" marL="0">
              <a:buNone/>
            </a:pPr>
            <a:r>
              <a:rPr lang="en-US" sz="1200" dirty="0">
                <a:solidFill>
                  <a:srgbClr val="1F2937"/>
                </a:solidFill>
              </a:rPr>
              <a:t>• Billing: invoices, refunds, tax IDs</a:t>
            </a:r>
            <a:endParaRPr lang="en-US" sz="1200" dirty="0"/>
          </a:p>
          <a:p>
            <a:pPr indent="0" marL="0">
              <a:buNone/>
            </a:pPr>
            <a:r>
              <a:rPr lang="en-US" sz="1200" dirty="0">
                <a:solidFill>
                  <a:srgbClr val="1F2937"/>
                </a:solidFill>
              </a:rPr>
              <a:t>• Technical: login, API, and sync issues</a:t>
            </a:r>
            <a:endParaRPr lang="en-US" sz="1200" dirty="0"/>
          </a:p>
          <a:p>
            <a:pPr indent="0" marL="0">
              <a:buNone/>
            </a:pPr>
            <a:r>
              <a:rPr lang="en-US" sz="1200" dirty="0">
                <a:solidFill>
                  <a:srgbClr val="1F2937"/>
                </a:solidFill>
              </a:rPr>
              <a:t>• Localization: mistranslations, truncation, and missing placeholders</a:t>
            </a:r>
            <a:endParaRPr lang="en-US" sz="1200" dirty="0"/>
          </a:p>
          <a:p>
            <a:pPr indent="0" marL="0">
              <a:buNone/>
            </a:pPr>
            <a:r>
              <a:rPr lang="en-US" sz="1200" dirty="0">
                <a:solidFill>
                  <a:srgbClr val="1F2937"/>
                </a:solidFill>
              </a:rPr>
              <a:t>• Account: roles, permissions, and SSO</a:t>
            </a:r>
            <a:endParaRPr lang="en-US" sz="1200" dirty="0"/>
          </a:p>
        </p:txBody>
      </p:sp>
      <p:sp>
        <p:nvSpPr>
          <p:cNvPr id="9" name="Text 6"/>
          <p:cNvSpPr/>
          <p:nvPr/>
        </p:nvSpPr>
        <p:spPr>
          <a:xfrm>
            <a:off x="6903720" y="3977640"/>
            <a:ext cx="3200400" cy="320040"/>
          </a:xfrm>
          <a:prstGeom prst="rect">
            <a:avLst/>
          </a:prstGeom>
          <a:noFill/>
          <a:ln/>
        </p:spPr>
        <p:txBody>
          <a:bodyPr wrap="square" lIns="0" tIns="0" rIns="0" bIns="0" rtlCol="0" anchor="ctr"/>
          <a:lstStyle/>
          <a:p>
            <a:pPr indent="0" marL="0">
              <a:buNone/>
            </a:pPr>
            <a:r>
              <a:rPr lang="en-US" sz="1200" b="1" dirty="0">
                <a:solidFill>
                  <a:srgbClr val="1F6FEB"/>
                </a:solidFill>
              </a:rPr>
              <a:t>Repeated phrase: Ready for localization.</a:t>
            </a:r>
            <a:endParaRPr lang="en-US" sz="12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SmartArt-style process</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Editable process diagram built from PowerPoint shapes</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9</a:t>
            </a:r>
            <a:endParaRPr lang="en-US" sz="750" dirty="0"/>
          </a:p>
        </p:txBody>
      </p:sp>
      <p:sp>
        <p:nvSpPr>
          <p:cNvPr id="6" name="Shape 4"/>
          <p:cNvSpPr/>
          <p:nvPr/>
        </p:nvSpPr>
        <p:spPr>
          <a:xfrm>
            <a:off x="731520" y="1828800"/>
            <a:ext cx="2011680" cy="1170432"/>
          </a:xfrm>
          <a:prstGeom prst="roundRect">
            <a:avLst>
              <a:gd name="adj" fmla="val 4688"/>
            </a:avLst>
          </a:prstGeom>
          <a:solidFill>
            <a:srgbClr val="EAF2FF"/>
          </a:solidFill>
          <a:ln w="12700">
            <a:solidFill>
              <a:srgbClr val="BBD3FF">
                <a:alpha val="40000"/>
              </a:srgbClr>
            </a:solidFill>
            <a:prstDash val="solid"/>
          </a:ln>
        </p:spPr>
      </p:sp>
      <p:sp>
        <p:nvSpPr>
          <p:cNvPr id="7" name="Shape 5"/>
          <p:cNvSpPr/>
          <p:nvPr/>
        </p:nvSpPr>
        <p:spPr>
          <a:xfrm>
            <a:off x="841248" y="1984248"/>
            <a:ext cx="384048" cy="384048"/>
          </a:xfrm>
          <a:prstGeom prst="ellipse">
            <a:avLst/>
          </a:prstGeom>
          <a:solidFill>
            <a:srgbClr val="1F6FEB"/>
          </a:solidFill>
          <a:ln w="12700">
            <a:solidFill>
              <a:srgbClr val="1F6FEB"/>
            </a:solidFill>
            <a:prstDash val="solid"/>
          </a:ln>
        </p:spPr>
      </p:sp>
      <p:sp>
        <p:nvSpPr>
          <p:cNvPr id="8" name="Text 6"/>
          <p:cNvSpPr/>
          <p:nvPr/>
        </p:nvSpPr>
        <p:spPr>
          <a:xfrm>
            <a:off x="841248" y="2057400"/>
            <a:ext cx="384048" cy="146304"/>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9" name="Text 7"/>
          <p:cNvSpPr/>
          <p:nvPr/>
        </p:nvSpPr>
        <p:spPr>
          <a:xfrm>
            <a:off x="1298448" y="1965960"/>
            <a:ext cx="1143000" cy="237744"/>
          </a:xfrm>
          <a:prstGeom prst="rect">
            <a:avLst/>
          </a:prstGeom>
          <a:noFill/>
          <a:ln/>
        </p:spPr>
        <p:txBody>
          <a:bodyPr wrap="square" lIns="0" tIns="0" rIns="0" bIns="0" rtlCol="0" anchor="ctr"/>
          <a:lstStyle/>
          <a:p>
            <a:pPr indent="0" marL="0">
              <a:buNone/>
            </a:pPr>
            <a:r>
              <a:rPr lang="en-US" sz="1300" b="1" dirty="0">
                <a:solidFill>
                  <a:srgbClr val="12355B"/>
                </a:solidFill>
              </a:rPr>
              <a:t>Extract</a:t>
            </a:r>
            <a:endParaRPr lang="en-US" sz="1300" dirty="0"/>
          </a:p>
        </p:txBody>
      </p:sp>
      <p:sp>
        <p:nvSpPr>
          <p:cNvPr id="10" name="Text 8"/>
          <p:cNvSpPr/>
          <p:nvPr/>
        </p:nvSpPr>
        <p:spPr>
          <a:xfrm>
            <a:off x="987552" y="2423160"/>
            <a:ext cx="1463040" cy="384048"/>
          </a:xfrm>
          <a:prstGeom prst="rect">
            <a:avLst/>
          </a:prstGeom>
          <a:noFill/>
          <a:ln/>
        </p:spPr>
        <p:txBody>
          <a:bodyPr wrap="square" lIns="254" tIns="254" rIns="254" bIns="254" rtlCol="0" anchor="ctr">
            <a:normAutofit/>
          </a:bodyPr>
          <a:lstStyle/>
          <a:p>
            <a:pPr indent="0" marL="0">
              <a:buNone/>
            </a:pPr>
            <a:r>
              <a:rPr lang="en-US" sz="860" dirty="0">
                <a:solidFill>
                  <a:srgbClr val="1F2937"/>
                </a:solidFill>
              </a:rPr>
              <a:t>Collect PPTX text, notes, charts, and table cells.</a:t>
            </a:r>
            <a:endParaRPr lang="en-US" sz="860" dirty="0"/>
          </a:p>
        </p:txBody>
      </p:sp>
      <p:sp>
        <p:nvSpPr>
          <p:cNvPr id="11" name="Shape 9"/>
          <p:cNvSpPr/>
          <p:nvPr/>
        </p:nvSpPr>
        <p:spPr>
          <a:xfrm>
            <a:off x="2788920" y="2176272"/>
            <a:ext cx="411480" cy="457200"/>
          </a:xfrm>
          <a:prstGeom prst="chevron">
            <a:avLst/>
          </a:prstGeom>
          <a:solidFill>
            <a:srgbClr val="00A6A6"/>
          </a:solidFill>
          <a:ln w="12700">
            <a:solidFill>
              <a:srgbClr val="00A6A6"/>
            </a:solidFill>
            <a:prstDash val="solid"/>
          </a:ln>
        </p:spPr>
      </p:sp>
      <p:sp>
        <p:nvSpPr>
          <p:cNvPr id="12" name="Shape 10"/>
          <p:cNvSpPr/>
          <p:nvPr/>
        </p:nvSpPr>
        <p:spPr>
          <a:xfrm>
            <a:off x="3520440" y="1828800"/>
            <a:ext cx="2011680" cy="1170432"/>
          </a:xfrm>
          <a:prstGeom prst="roundRect">
            <a:avLst>
              <a:gd name="adj" fmla="val 4688"/>
            </a:avLst>
          </a:prstGeom>
          <a:solidFill>
            <a:srgbClr val="F4F7FB"/>
          </a:solidFill>
          <a:ln w="12700">
            <a:solidFill>
              <a:srgbClr val="BBD3FF">
                <a:alpha val="40000"/>
              </a:srgbClr>
            </a:solidFill>
            <a:prstDash val="solid"/>
          </a:ln>
        </p:spPr>
      </p:sp>
      <p:sp>
        <p:nvSpPr>
          <p:cNvPr id="13" name="Shape 11"/>
          <p:cNvSpPr/>
          <p:nvPr/>
        </p:nvSpPr>
        <p:spPr>
          <a:xfrm>
            <a:off x="3630168" y="1984248"/>
            <a:ext cx="384048" cy="384048"/>
          </a:xfrm>
          <a:prstGeom prst="ellipse">
            <a:avLst/>
          </a:prstGeom>
          <a:solidFill>
            <a:srgbClr val="1F6FEB"/>
          </a:solidFill>
          <a:ln w="12700">
            <a:solidFill>
              <a:srgbClr val="1F6FEB"/>
            </a:solidFill>
            <a:prstDash val="solid"/>
          </a:ln>
        </p:spPr>
      </p:sp>
      <p:sp>
        <p:nvSpPr>
          <p:cNvPr id="14" name="Text 12"/>
          <p:cNvSpPr/>
          <p:nvPr/>
        </p:nvSpPr>
        <p:spPr>
          <a:xfrm>
            <a:off x="3630168" y="2057400"/>
            <a:ext cx="384048" cy="146304"/>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5" name="Text 13"/>
          <p:cNvSpPr/>
          <p:nvPr/>
        </p:nvSpPr>
        <p:spPr>
          <a:xfrm>
            <a:off x="4087368" y="1965960"/>
            <a:ext cx="1143000" cy="237744"/>
          </a:xfrm>
          <a:prstGeom prst="rect">
            <a:avLst/>
          </a:prstGeom>
          <a:noFill/>
          <a:ln/>
        </p:spPr>
        <p:txBody>
          <a:bodyPr wrap="square" lIns="0" tIns="0" rIns="0" bIns="0" rtlCol="0" anchor="ctr"/>
          <a:lstStyle/>
          <a:p>
            <a:pPr indent="0" marL="0">
              <a:buNone/>
            </a:pPr>
            <a:r>
              <a:rPr lang="en-US" sz="1300" b="1" dirty="0">
                <a:solidFill>
                  <a:srgbClr val="12355B"/>
                </a:solidFill>
              </a:rPr>
              <a:t>Translate</a:t>
            </a:r>
            <a:endParaRPr lang="en-US" sz="1300" dirty="0"/>
          </a:p>
        </p:txBody>
      </p:sp>
      <p:sp>
        <p:nvSpPr>
          <p:cNvPr id="16" name="Text 14"/>
          <p:cNvSpPr/>
          <p:nvPr/>
        </p:nvSpPr>
        <p:spPr>
          <a:xfrm>
            <a:off x="3776472" y="2423160"/>
            <a:ext cx="1463040" cy="384048"/>
          </a:xfrm>
          <a:prstGeom prst="rect">
            <a:avLst/>
          </a:prstGeom>
          <a:noFill/>
          <a:ln/>
        </p:spPr>
        <p:txBody>
          <a:bodyPr wrap="square" lIns="254" tIns="254" rIns="254" bIns="254" rtlCol="0" anchor="ctr">
            <a:normAutofit/>
          </a:bodyPr>
          <a:lstStyle/>
          <a:p>
            <a:pPr indent="0" marL="0">
              <a:buNone/>
            </a:pPr>
            <a:r>
              <a:rPr lang="en-US" sz="860" dirty="0">
                <a:solidFill>
                  <a:srgbClr val="1F2937"/>
                </a:solidFill>
              </a:rPr>
              <a:t>Apply glossary, tone, and locale-specific formatting.</a:t>
            </a:r>
            <a:endParaRPr lang="en-US" sz="860" dirty="0"/>
          </a:p>
        </p:txBody>
      </p:sp>
      <p:sp>
        <p:nvSpPr>
          <p:cNvPr id="17" name="Shape 15"/>
          <p:cNvSpPr/>
          <p:nvPr/>
        </p:nvSpPr>
        <p:spPr>
          <a:xfrm>
            <a:off x="5577840" y="2176272"/>
            <a:ext cx="411480" cy="457200"/>
          </a:xfrm>
          <a:prstGeom prst="chevron">
            <a:avLst/>
          </a:prstGeom>
          <a:solidFill>
            <a:srgbClr val="00A6A6"/>
          </a:solidFill>
          <a:ln w="12700">
            <a:solidFill>
              <a:srgbClr val="00A6A6"/>
            </a:solidFill>
            <a:prstDash val="solid"/>
          </a:ln>
        </p:spPr>
      </p:sp>
      <p:sp>
        <p:nvSpPr>
          <p:cNvPr id="18" name="Shape 16"/>
          <p:cNvSpPr/>
          <p:nvPr/>
        </p:nvSpPr>
        <p:spPr>
          <a:xfrm>
            <a:off x="6309360" y="1828800"/>
            <a:ext cx="2011680" cy="1170432"/>
          </a:xfrm>
          <a:prstGeom prst="roundRect">
            <a:avLst>
              <a:gd name="adj" fmla="val 4688"/>
            </a:avLst>
          </a:prstGeom>
          <a:solidFill>
            <a:srgbClr val="EAF2FF"/>
          </a:solidFill>
          <a:ln w="12700">
            <a:solidFill>
              <a:srgbClr val="BBD3FF">
                <a:alpha val="40000"/>
              </a:srgbClr>
            </a:solidFill>
            <a:prstDash val="solid"/>
          </a:ln>
        </p:spPr>
      </p:sp>
      <p:sp>
        <p:nvSpPr>
          <p:cNvPr id="19" name="Shape 17"/>
          <p:cNvSpPr/>
          <p:nvPr/>
        </p:nvSpPr>
        <p:spPr>
          <a:xfrm>
            <a:off x="6419088" y="1984248"/>
            <a:ext cx="384048" cy="384048"/>
          </a:xfrm>
          <a:prstGeom prst="ellipse">
            <a:avLst/>
          </a:prstGeom>
          <a:solidFill>
            <a:srgbClr val="1F6FEB"/>
          </a:solidFill>
          <a:ln w="12700">
            <a:solidFill>
              <a:srgbClr val="1F6FEB"/>
            </a:solidFill>
            <a:prstDash val="solid"/>
          </a:ln>
        </p:spPr>
      </p:sp>
      <p:sp>
        <p:nvSpPr>
          <p:cNvPr id="20" name="Text 18"/>
          <p:cNvSpPr/>
          <p:nvPr/>
        </p:nvSpPr>
        <p:spPr>
          <a:xfrm>
            <a:off x="6419088" y="2057400"/>
            <a:ext cx="384048" cy="146304"/>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1" name="Text 19"/>
          <p:cNvSpPr/>
          <p:nvPr/>
        </p:nvSpPr>
        <p:spPr>
          <a:xfrm>
            <a:off x="6876288" y="1965960"/>
            <a:ext cx="1143000" cy="237744"/>
          </a:xfrm>
          <a:prstGeom prst="rect">
            <a:avLst/>
          </a:prstGeom>
          <a:noFill/>
          <a:ln/>
        </p:spPr>
        <p:txBody>
          <a:bodyPr wrap="square" lIns="0" tIns="0" rIns="0" bIns="0" rtlCol="0" anchor="ctr"/>
          <a:lstStyle/>
          <a:p>
            <a:pPr indent="0" marL="0">
              <a:buNone/>
            </a:pPr>
            <a:r>
              <a:rPr lang="en-US" sz="1300" b="1" dirty="0">
                <a:solidFill>
                  <a:srgbClr val="12355B"/>
                </a:solidFill>
              </a:rPr>
              <a:t>Validate</a:t>
            </a:r>
            <a:endParaRPr lang="en-US" sz="1300" dirty="0"/>
          </a:p>
        </p:txBody>
      </p:sp>
      <p:sp>
        <p:nvSpPr>
          <p:cNvPr id="22" name="Text 20"/>
          <p:cNvSpPr/>
          <p:nvPr/>
        </p:nvSpPr>
        <p:spPr>
          <a:xfrm>
            <a:off x="6565392" y="2423160"/>
            <a:ext cx="1463040" cy="384048"/>
          </a:xfrm>
          <a:prstGeom prst="rect">
            <a:avLst/>
          </a:prstGeom>
          <a:noFill/>
          <a:ln/>
        </p:spPr>
        <p:txBody>
          <a:bodyPr wrap="square" lIns="254" tIns="254" rIns="254" bIns="254" rtlCol="0" anchor="ctr">
            <a:normAutofit/>
          </a:bodyPr>
          <a:lstStyle/>
          <a:p>
            <a:pPr indent="0" marL="0">
              <a:buNone/>
            </a:pPr>
            <a:r>
              <a:rPr lang="en-US" sz="860" dirty="0">
                <a:solidFill>
                  <a:srgbClr val="1F2937"/>
                </a:solidFill>
              </a:rPr>
              <a:t>Check truncation, placeholders, and broken punctuation.</a:t>
            </a:r>
            <a:endParaRPr lang="en-US" sz="860" dirty="0"/>
          </a:p>
        </p:txBody>
      </p:sp>
      <p:sp>
        <p:nvSpPr>
          <p:cNvPr id="23" name="Shape 21"/>
          <p:cNvSpPr/>
          <p:nvPr/>
        </p:nvSpPr>
        <p:spPr>
          <a:xfrm>
            <a:off x="8366760" y="2176272"/>
            <a:ext cx="411480" cy="457200"/>
          </a:xfrm>
          <a:prstGeom prst="chevron">
            <a:avLst/>
          </a:prstGeom>
          <a:solidFill>
            <a:srgbClr val="00A6A6"/>
          </a:solidFill>
          <a:ln w="12700">
            <a:solidFill>
              <a:srgbClr val="00A6A6"/>
            </a:solidFill>
            <a:prstDash val="solid"/>
          </a:ln>
        </p:spPr>
      </p:sp>
      <p:sp>
        <p:nvSpPr>
          <p:cNvPr id="24" name="Shape 22"/>
          <p:cNvSpPr/>
          <p:nvPr/>
        </p:nvSpPr>
        <p:spPr>
          <a:xfrm>
            <a:off x="9098280" y="1828800"/>
            <a:ext cx="2011680" cy="1170432"/>
          </a:xfrm>
          <a:prstGeom prst="roundRect">
            <a:avLst>
              <a:gd name="adj" fmla="val 4688"/>
            </a:avLst>
          </a:prstGeom>
          <a:solidFill>
            <a:srgbClr val="F4F7FB"/>
          </a:solidFill>
          <a:ln w="12700">
            <a:solidFill>
              <a:srgbClr val="BBD3FF">
                <a:alpha val="40000"/>
              </a:srgbClr>
            </a:solidFill>
            <a:prstDash val="solid"/>
          </a:ln>
        </p:spPr>
      </p:sp>
      <p:sp>
        <p:nvSpPr>
          <p:cNvPr id="25" name="Shape 23"/>
          <p:cNvSpPr/>
          <p:nvPr/>
        </p:nvSpPr>
        <p:spPr>
          <a:xfrm>
            <a:off x="9208008" y="1984248"/>
            <a:ext cx="384048" cy="384048"/>
          </a:xfrm>
          <a:prstGeom prst="ellipse">
            <a:avLst/>
          </a:prstGeom>
          <a:solidFill>
            <a:srgbClr val="1F6FEB"/>
          </a:solidFill>
          <a:ln w="12700">
            <a:solidFill>
              <a:srgbClr val="1F6FEB"/>
            </a:solidFill>
            <a:prstDash val="solid"/>
          </a:ln>
        </p:spPr>
      </p:sp>
      <p:sp>
        <p:nvSpPr>
          <p:cNvPr id="26" name="Text 24"/>
          <p:cNvSpPr/>
          <p:nvPr/>
        </p:nvSpPr>
        <p:spPr>
          <a:xfrm>
            <a:off x="9208008" y="2057400"/>
            <a:ext cx="384048" cy="146304"/>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7" name="Text 25"/>
          <p:cNvSpPr/>
          <p:nvPr/>
        </p:nvSpPr>
        <p:spPr>
          <a:xfrm>
            <a:off x="9665208" y="1965960"/>
            <a:ext cx="1143000" cy="237744"/>
          </a:xfrm>
          <a:prstGeom prst="rect">
            <a:avLst/>
          </a:prstGeom>
          <a:noFill/>
          <a:ln/>
        </p:spPr>
        <p:txBody>
          <a:bodyPr wrap="square" lIns="0" tIns="0" rIns="0" bIns="0" rtlCol="0" anchor="ctr"/>
          <a:lstStyle/>
          <a:p>
            <a:pPr indent="0" marL="0">
              <a:buNone/>
            </a:pPr>
            <a:r>
              <a:rPr lang="en-US" sz="1300" b="1" dirty="0">
                <a:solidFill>
                  <a:srgbClr val="12355B"/>
                </a:solidFill>
              </a:rPr>
              <a:t>Round-trip</a:t>
            </a:r>
            <a:endParaRPr lang="en-US" sz="1300" dirty="0"/>
          </a:p>
        </p:txBody>
      </p:sp>
      <p:sp>
        <p:nvSpPr>
          <p:cNvPr id="28" name="Text 26"/>
          <p:cNvSpPr/>
          <p:nvPr/>
        </p:nvSpPr>
        <p:spPr>
          <a:xfrm>
            <a:off x="9354312" y="2423160"/>
            <a:ext cx="1463040" cy="384048"/>
          </a:xfrm>
          <a:prstGeom prst="rect">
            <a:avLst/>
          </a:prstGeom>
          <a:noFill/>
          <a:ln/>
        </p:spPr>
        <p:txBody>
          <a:bodyPr wrap="square" lIns="254" tIns="254" rIns="254" bIns="254" rtlCol="0" anchor="ctr">
            <a:normAutofit/>
          </a:bodyPr>
          <a:lstStyle/>
          <a:p>
            <a:pPr indent="0" marL="0">
              <a:buNone/>
            </a:pPr>
            <a:r>
              <a:rPr lang="en-US" sz="860" dirty="0">
                <a:solidFill>
                  <a:srgbClr val="1F2937"/>
                </a:solidFill>
              </a:rPr>
              <a:t>Reimport and compare against source structure.</a:t>
            </a:r>
            <a:endParaRPr lang="en-US" sz="860" dirty="0"/>
          </a:p>
        </p:txBody>
      </p:sp>
      <p:sp>
        <p:nvSpPr>
          <p:cNvPr id="29" name="Text 27"/>
          <p:cNvSpPr/>
          <p:nvPr/>
        </p:nvSpPr>
        <p:spPr>
          <a:xfrm>
            <a:off x="914400" y="3913632"/>
            <a:ext cx="9692640" cy="411480"/>
          </a:xfrm>
          <a:prstGeom prst="rect">
            <a:avLst/>
          </a:prstGeom>
          <a:noFill/>
          <a:ln/>
        </p:spPr>
        <p:txBody>
          <a:bodyPr wrap="square" lIns="0" tIns="0" rIns="0" bIns="0" rtlCol="0" anchor="ctr"/>
          <a:lstStyle/>
          <a:p>
            <a:pPr indent="0" marL="0">
              <a:buNone/>
            </a:pPr>
            <a:r>
              <a:rPr lang="en-US" sz="1200" i="1" dirty="0">
                <a:solidFill>
                  <a:srgbClr val="5E6C84"/>
                </a:solidFill>
              </a:rPr>
              <a:t>Process nodes use meaningful text and remain editable. This slide is suitable for tools that extract grouped or diagram-like objects.</a:t>
            </a:r>
            <a:endParaRPr lang="en-US" sz="1200" dirty="0"/>
          </a:p>
        </p:txBody>
      </p:sp>
      <p:sp>
        <p:nvSpPr>
          <p:cNvPr id="30" name="Text 28"/>
          <p:cNvSpPr/>
          <p:nvPr/>
        </p:nvSpPr>
        <p:spPr>
          <a:xfrm>
            <a:off x="3840480" y="6400800"/>
            <a:ext cx="4389120" cy="164592"/>
          </a:xfrm>
          <a:prstGeom prst="rect">
            <a:avLst/>
          </a:prstGeom>
          <a:noFill/>
          <a:ln/>
        </p:spPr>
        <p:txBody>
          <a:bodyPr wrap="square" lIns="0" tIns="0" rIns="0" bIns="0" rtlCol="0" anchor="ctr"/>
          <a:lstStyle/>
          <a:p>
            <a:pPr algn="ctr" indent="0" marL="0">
              <a:buNone/>
            </a:pPr>
            <a:r>
              <a:rPr lang="en-US" sz="700" dirty="0">
                <a:solidFill>
                  <a:srgbClr val="7A869A"/>
                </a:solidFill>
              </a:rPr>
              <a:t>SmartArt-style process • Ready for localization</a:t>
            </a:r>
            <a:endParaRPr lang="en-US" sz="7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SmartArt-style hierarchy</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Editable org-chart style structure with meaningful node text</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10</a:t>
            </a:r>
            <a:endParaRPr lang="en-US" sz="750" dirty="0"/>
          </a:p>
        </p:txBody>
      </p:sp>
      <p:sp>
        <p:nvSpPr>
          <p:cNvPr id="6" name="Shape 4"/>
          <p:cNvSpPr/>
          <p:nvPr/>
        </p:nvSpPr>
        <p:spPr>
          <a:xfrm>
            <a:off x="4572000" y="1051560"/>
            <a:ext cx="3017520" cy="658368"/>
          </a:xfrm>
          <a:prstGeom prst="roundRect">
            <a:avLst>
              <a:gd name="adj" fmla="val 8333"/>
            </a:avLst>
          </a:prstGeom>
          <a:solidFill>
            <a:srgbClr val="12355B"/>
          </a:solidFill>
          <a:ln w="12700">
            <a:solidFill>
              <a:srgbClr val="12355B">
                <a:alpha val="40000"/>
              </a:srgbClr>
            </a:solidFill>
            <a:prstDash val="solid"/>
          </a:ln>
        </p:spPr>
      </p:sp>
      <p:sp>
        <p:nvSpPr>
          <p:cNvPr id="7" name="Text 5"/>
          <p:cNvSpPr/>
          <p:nvPr/>
        </p:nvSpPr>
        <p:spPr>
          <a:xfrm>
            <a:off x="4800600" y="1234440"/>
            <a:ext cx="2560320" cy="201168"/>
          </a:xfrm>
          <a:prstGeom prst="rect">
            <a:avLst/>
          </a:prstGeom>
          <a:noFill/>
          <a:ln/>
        </p:spPr>
        <p:txBody>
          <a:bodyPr wrap="square" lIns="0" tIns="0" rIns="0" bIns="0" rtlCol="0" anchor="ctr"/>
          <a:lstStyle/>
          <a:p>
            <a:pPr algn="ctr" indent="0" marL="0">
              <a:buNone/>
            </a:pPr>
            <a:r>
              <a:rPr lang="en-US" sz="1400" b="1" dirty="0">
                <a:solidFill>
                  <a:srgbClr val="FFFFFF"/>
                </a:solidFill>
              </a:rPr>
              <a:t>Global Launch Director</a:t>
            </a:r>
            <a:endParaRPr lang="en-US" sz="1400" dirty="0"/>
          </a:p>
        </p:txBody>
      </p:sp>
      <p:sp>
        <p:nvSpPr>
          <p:cNvPr id="8" name="Shape 6"/>
          <p:cNvSpPr/>
          <p:nvPr/>
        </p:nvSpPr>
        <p:spPr>
          <a:xfrm>
            <a:off x="6080760" y="1719072"/>
            <a:ext cx="-3703320" cy="749808"/>
          </a:xfrm>
          <a:prstGeom prst="line">
            <a:avLst/>
          </a:prstGeom>
          <a:noFill/>
          <a:ln w="15240">
            <a:solidFill>
              <a:srgbClr val="94A3B8"/>
            </a:solidFill>
            <a:prstDash val="solid"/>
            <a:headEnd type="none"/>
            <a:tailEnd type="triangle"/>
          </a:ln>
        </p:spPr>
      </p:sp>
      <p:sp>
        <p:nvSpPr>
          <p:cNvPr id="9" name="Shape 7"/>
          <p:cNvSpPr/>
          <p:nvPr/>
        </p:nvSpPr>
        <p:spPr>
          <a:xfrm>
            <a:off x="1005840" y="2514600"/>
            <a:ext cx="2743200" cy="777240"/>
          </a:xfrm>
          <a:prstGeom prst="roundRect">
            <a:avLst>
              <a:gd name="adj" fmla="val 7059"/>
            </a:avLst>
          </a:prstGeom>
          <a:solidFill>
            <a:srgbClr val="EAF2FF"/>
          </a:solidFill>
          <a:ln w="12700">
            <a:solidFill>
              <a:srgbClr val="BBD3FF">
                <a:alpha val="40000"/>
              </a:srgbClr>
            </a:solidFill>
            <a:prstDash val="solid"/>
          </a:ln>
        </p:spPr>
      </p:sp>
      <p:sp>
        <p:nvSpPr>
          <p:cNvPr id="10" name="Text 8"/>
          <p:cNvSpPr/>
          <p:nvPr/>
        </p:nvSpPr>
        <p:spPr>
          <a:xfrm>
            <a:off x="1152144" y="2697480"/>
            <a:ext cx="2423160" cy="164592"/>
          </a:xfrm>
          <a:prstGeom prst="rect">
            <a:avLst/>
          </a:prstGeom>
          <a:noFill/>
          <a:ln/>
        </p:spPr>
        <p:txBody>
          <a:bodyPr wrap="square" lIns="0" tIns="0" rIns="0" bIns="0" rtlCol="0" anchor="ctr"/>
          <a:lstStyle/>
          <a:p>
            <a:pPr algn="ctr" indent="0" marL="0">
              <a:buNone/>
            </a:pPr>
            <a:r>
              <a:rPr lang="en-US" sz="1200" b="1" dirty="0">
                <a:solidFill>
                  <a:srgbClr val="12355B"/>
                </a:solidFill>
              </a:rPr>
              <a:t>Localization Lead</a:t>
            </a:r>
            <a:endParaRPr lang="en-US" sz="1200" dirty="0"/>
          </a:p>
        </p:txBody>
      </p:sp>
      <p:sp>
        <p:nvSpPr>
          <p:cNvPr id="11" name="Text 9"/>
          <p:cNvSpPr/>
          <p:nvPr/>
        </p:nvSpPr>
        <p:spPr>
          <a:xfrm>
            <a:off x="1188720" y="2944368"/>
            <a:ext cx="2331720" cy="164592"/>
          </a:xfrm>
          <a:prstGeom prst="rect">
            <a:avLst/>
          </a:prstGeom>
          <a:noFill/>
          <a:ln/>
        </p:spPr>
        <p:txBody>
          <a:bodyPr wrap="square" lIns="0" tIns="0" rIns="0" bIns="0" rtlCol="0" anchor="ctr"/>
          <a:lstStyle/>
          <a:p>
            <a:pPr algn="ctr" indent="0" marL="0">
              <a:buNone/>
            </a:pPr>
            <a:r>
              <a:rPr lang="en-US" sz="880" dirty="0">
                <a:solidFill>
                  <a:srgbClr val="5E6C84"/>
                </a:solidFill>
              </a:rPr>
              <a:t>Glossary, TMS, review</a:t>
            </a:r>
            <a:endParaRPr lang="en-US" sz="880" dirty="0"/>
          </a:p>
        </p:txBody>
      </p:sp>
      <p:sp>
        <p:nvSpPr>
          <p:cNvPr id="12" name="Shape 10"/>
          <p:cNvSpPr/>
          <p:nvPr/>
        </p:nvSpPr>
        <p:spPr>
          <a:xfrm>
            <a:off x="6080760" y="1719072"/>
            <a:ext cx="-45720" cy="749808"/>
          </a:xfrm>
          <a:prstGeom prst="line">
            <a:avLst/>
          </a:prstGeom>
          <a:noFill/>
          <a:ln w="15240">
            <a:solidFill>
              <a:srgbClr val="94A3B8"/>
            </a:solidFill>
            <a:prstDash val="solid"/>
            <a:headEnd type="none"/>
            <a:tailEnd type="triangle"/>
          </a:ln>
        </p:spPr>
      </p:sp>
      <p:sp>
        <p:nvSpPr>
          <p:cNvPr id="13" name="Shape 11"/>
          <p:cNvSpPr/>
          <p:nvPr/>
        </p:nvSpPr>
        <p:spPr>
          <a:xfrm>
            <a:off x="4663440" y="2514600"/>
            <a:ext cx="2743200" cy="777240"/>
          </a:xfrm>
          <a:prstGeom prst="roundRect">
            <a:avLst>
              <a:gd name="adj" fmla="val 7059"/>
            </a:avLst>
          </a:prstGeom>
          <a:solidFill>
            <a:srgbClr val="EAF2FF"/>
          </a:solidFill>
          <a:ln w="12700">
            <a:solidFill>
              <a:srgbClr val="BBD3FF">
                <a:alpha val="40000"/>
              </a:srgbClr>
            </a:solidFill>
            <a:prstDash val="solid"/>
          </a:ln>
        </p:spPr>
      </p:sp>
      <p:sp>
        <p:nvSpPr>
          <p:cNvPr id="14" name="Text 12"/>
          <p:cNvSpPr/>
          <p:nvPr/>
        </p:nvSpPr>
        <p:spPr>
          <a:xfrm>
            <a:off x="4809744" y="2697480"/>
            <a:ext cx="2423160" cy="164592"/>
          </a:xfrm>
          <a:prstGeom prst="rect">
            <a:avLst/>
          </a:prstGeom>
          <a:noFill/>
          <a:ln/>
        </p:spPr>
        <p:txBody>
          <a:bodyPr wrap="square" lIns="0" tIns="0" rIns="0" bIns="0" rtlCol="0" anchor="ctr"/>
          <a:lstStyle/>
          <a:p>
            <a:pPr algn="ctr" indent="0" marL="0">
              <a:buNone/>
            </a:pPr>
            <a:r>
              <a:rPr lang="en-US" sz="1200" b="1" dirty="0">
                <a:solidFill>
                  <a:srgbClr val="12355B"/>
                </a:solidFill>
              </a:rPr>
              <a:t>Product Lead</a:t>
            </a:r>
            <a:endParaRPr lang="en-US" sz="1200" dirty="0"/>
          </a:p>
        </p:txBody>
      </p:sp>
      <p:sp>
        <p:nvSpPr>
          <p:cNvPr id="15" name="Text 13"/>
          <p:cNvSpPr/>
          <p:nvPr/>
        </p:nvSpPr>
        <p:spPr>
          <a:xfrm>
            <a:off x="4846320" y="2944368"/>
            <a:ext cx="2331720" cy="164592"/>
          </a:xfrm>
          <a:prstGeom prst="rect">
            <a:avLst/>
          </a:prstGeom>
          <a:noFill/>
          <a:ln/>
        </p:spPr>
        <p:txBody>
          <a:bodyPr wrap="square" lIns="0" tIns="0" rIns="0" bIns="0" rtlCol="0" anchor="ctr"/>
          <a:lstStyle/>
          <a:p>
            <a:pPr algn="ctr" indent="0" marL="0">
              <a:buNone/>
            </a:pPr>
            <a:r>
              <a:rPr lang="en-US" sz="880" dirty="0">
                <a:solidFill>
                  <a:srgbClr val="5E6C84"/>
                </a:solidFill>
              </a:rPr>
              <a:t>Roadmap and release scope</a:t>
            </a:r>
            <a:endParaRPr lang="en-US" sz="880" dirty="0"/>
          </a:p>
        </p:txBody>
      </p:sp>
      <p:sp>
        <p:nvSpPr>
          <p:cNvPr id="16" name="Shape 14"/>
          <p:cNvSpPr/>
          <p:nvPr/>
        </p:nvSpPr>
        <p:spPr>
          <a:xfrm>
            <a:off x="6080760" y="1719072"/>
            <a:ext cx="3611880" cy="749808"/>
          </a:xfrm>
          <a:prstGeom prst="line">
            <a:avLst/>
          </a:prstGeom>
          <a:noFill/>
          <a:ln w="15240">
            <a:solidFill>
              <a:srgbClr val="94A3B8"/>
            </a:solidFill>
            <a:prstDash val="solid"/>
            <a:headEnd type="none"/>
            <a:tailEnd type="triangle"/>
          </a:ln>
        </p:spPr>
      </p:sp>
      <p:sp>
        <p:nvSpPr>
          <p:cNvPr id="17" name="Shape 15"/>
          <p:cNvSpPr/>
          <p:nvPr/>
        </p:nvSpPr>
        <p:spPr>
          <a:xfrm>
            <a:off x="8321040" y="2514600"/>
            <a:ext cx="2743200" cy="777240"/>
          </a:xfrm>
          <a:prstGeom prst="roundRect">
            <a:avLst>
              <a:gd name="adj" fmla="val 7059"/>
            </a:avLst>
          </a:prstGeom>
          <a:solidFill>
            <a:srgbClr val="EAF2FF"/>
          </a:solidFill>
          <a:ln w="12700">
            <a:solidFill>
              <a:srgbClr val="BBD3FF">
                <a:alpha val="40000"/>
              </a:srgbClr>
            </a:solidFill>
            <a:prstDash val="solid"/>
          </a:ln>
        </p:spPr>
      </p:sp>
      <p:sp>
        <p:nvSpPr>
          <p:cNvPr id="18" name="Text 16"/>
          <p:cNvSpPr/>
          <p:nvPr/>
        </p:nvSpPr>
        <p:spPr>
          <a:xfrm>
            <a:off x="8467344" y="2697480"/>
            <a:ext cx="2423160" cy="164592"/>
          </a:xfrm>
          <a:prstGeom prst="rect">
            <a:avLst/>
          </a:prstGeom>
          <a:noFill/>
          <a:ln/>
        </p:spPr>
        <p:txBody>
          <a:bodyPr wrap="square" lIns="0" tIns="0" rIns="0" bIns="0" rtlCol="0" anchor="ctr"/>
          <a:lstStyle/>
          <a:p>
            <a:pPr algn="ctr" indent="0" marL="0">
              <a:buNone/>
            </a:pPr>
            <a:r>
              <a:rPr lang="en-US" sz="1200" b="1" dirty="0">
                <a:solidFill>
                  <a:srgbClr val="12355B"/>
                </a:solidFill>
              </a:rPr>
              <a:t>Support Lead</a:t>
            </a:r>
            <a:endParaRPr lang="en-US" sz="1200" dirty="0"/>
          </a:p>
        </p:txBody>
      </p:sp>
      <p:sp>
        <p:nvSpPr>
          <p:cNvPr id="19" name="Text 17"/>
          <p:cNvSpPr/>
          <p:nvPr/>
        </p:nvSpPr>
        <p:spPr>
          <a:xfrm>
            <a:off x="8503920" y="2944368"/>
            <a:ext cx="2331720" cy="164592"/>
          </a:xfrm>
          <a:prstGeom prst="rect">
            <a:avLst/>
          </a:prstGeom>
          <a:noFill/>
          <a:ln/>
        </p:spPr>
        <p:txBody>
          <a:bodyPr wrap="square" lIns="0" tIns="0" rIns="0" bIns="0" rtlCol="0" anchor="ctr"/>
          <a:lstStyle/>
          <a:p>
            <a:pPr algn="ctr" indent="0" marL="0">
              <a:buNone/>
            </a:pPr>
            <a:r>
              <a:rPr lang="en-US" sz="880" dirty="0">
                <a:solidFill>
                  <a:srgbClr val="5E6C84"/>
                </a:solidFill>
              </a:rPr>
              <a:t>Help center and ticket deflection</a:t>
            </a:r>
            <a:endParaRPr lang="en-US" sz="880" dirty="0"/>
          </a:p>
        </p:txBody>
      </p:sp>
      <p:sp>
        <p:nvSpPr>
          <p:cNvPr id="20" name="Shape 18"/>
          <p:cNvSpPr/>
          <p:nvPr/>
        </p:nvSpPr>
        <p:spPr>
          <a:xfrm>
            <a:off x="2377440" y="3291840"/>
            <a:ext cx="0" cy="457200"/>
          </a:xfrm>
          <a:prstGeom prst="line">
            <a:avLst/>
          </a:prstGeom>
          <a:noFill/>
          <a:ln w="15240">
            <a:solidFill>
              <a:srgbClr val="94A3B8"/>
            </a:solidFill>
            <a:prstDash val="solid"/>
            <a:tailEnd type="triangle"/>
          </a:ln>
        </p:spPr>
      </p:sp>
      <p:sp>
        <p:nvSpPr>
          <p:cNvPr id="21" name="Shape 19"/>
          <p:cNvSpPr/>
          <p:nvPr/>
        </p:nvSpPr>
        <p:spPr>
          <a:xfrm>
            <a:off x="1005840" y="3886200"/>
            <a:ext cx="2743200" cy="777240"/>
          </a:xfrm>
          <a:prstGeom prst="roundRect">
            <a:avLst>
              <a:gd name="adj" fmla="val 7059"/>
            </a:avLst>
          </a:prstGeom>
          <a:solidFill>
            <a:srgbClr val="F4F7FB"/>
          </a:solidFill>
          <a:ln w="12700">
            <a:solidFill>
              <a:srgbClr val="D8DEE9">
                <a:alpha val="40000"/>
              </a:srgbClr>
            </a:solidFill>
            <a:prstDash val="solid"/>
          </a:ln>
        </p:spPr>
      </p:sp>
      <p:sp>
        <p:nvSpPr>
          <p:cNvPr id="22" name="Text 20"/>
          <p:cNvSpPr/>
          <p:nvPr/>
        </p:nvSpPr>
        <p:spPr>
          <a:xfrm>
            <a:off x="1170432" y="4078224"/>
            <a:ext cx="2395728" cy="182880"/>
          </a:xfrm>
          <a:prstGeom prst="rect">
            <a:avLst/>
          </a:prstGeom>
          <a:noFill/>
          <a:ln/>
        </p:spPr>
        <p:txBody>
          <a:bodyPr wrap="square" lIns="0" tIns="0" rIns="0" bIns="0" rtlCol="0" anchor="ctr"/>
          <a:lstStyle/>
          <a:p>
            <a:pPr algn="ctr" indent="0" marL="0">
              <a:buNone/>
            </a:pPr>
            <a:r>
              <a:rPr lang="en-US" sz="1100" b="1" dirty="0">
                <a:solidFill>
                  <a:srgbClr val="1F2937"/>
                </a:solidFill>
              </a:rPr>
              <a:t>Linguistic QA</a:t>
            </a:r>
            <a:endParaRPr lang="en-US" sz="1100" dirty="0"/>
          </a:p>
        </p:txBody>
      </p:sp>
      <p:sp>
        <p:nvSpPr>
          <p:cNvPr id="23" name="Text 21"/>
          <p:cNvSpPr/>
          <p:nvPr/>
        </p:nvSpPr>
        <p:spPr>
          <a:xfrm>
            <a:off x="1188720" y="4315968"/>
            <a:ext cx="2331720" cy="182880"/>
          </a:xfrm>
          <a:prstGeom prst="rect">
            <a:avLst/>
          </a:prstGeom>
          <a:noFill/>
          <a:ln/>
        </p:spPr>
        <p:txBody>
          <a:bodyPr wrap="square" lIns="0" tIns="0" rIns="0" bIns="0" rtlCol="0" anchor="ctr"/>
          <a:lstStyle/>
          <a:p>
            <a:pPr algn="ctr" indent="0" marL="0">
              <a:buNone/>
            </a:pPr>
            <a:r>
              <a:rPr lang="en-US" sz="850" dirty="0">
                <a:solidFill>
                  <a:srgbClr val="5E6C84"/>
                </a:solidFill>
              </a:rPr>
              <a:t>Screenshots and terminology</a:t>
            </a:r>
            <a:endParaRPr lang="en-US" sz="850" dirty="0"/>
          </a:p>
        </p:txBody>
      </p:sp>
      <p:sp>
        <p:nvSpPr>
          <p:cNvPr id="24" name="Shape 22"/>
          <p:cNvSpPr/>
          <p:nvPr/>
        </p:nvSpPr>
        <p:spPr>
          <a:xfrm>
            <a:off x="6035040" y="3291840"/>
            <a:ext cx="0" cy="457200"/>
          </a:xfrm>
          <a:prstGeom prst="line">
            <a:avLst/>
          </a:prstGeom>
          <a:noFill/>
          <a:ln w="15240">
            <a:solidFill>
              <a:srgbClr val="94A3B8"/>
            </a:solidFill>
            <a:prstDash val="solid"/>
            <a:tailEnd type="triangle"/>
          </a:ln>
        </p:spPr>
      </p:sp>
      <p:sp>
        <p:nvSpPr>
          <p:cNvPr id="25" name="Shape 23"/>
          <p:cNvSpPr/>
          <p:nvPr/>
        </p:nvSpPr>
        <p:spPr>
          <a:xfrm>
            <a:off x="4663440" y="3886200"/>
            <a:ext cx="2743200" cy="777240"/>
          </a:xfrm>
          <a:prstGeom prst="roundRect">
            <a:avLst>
              <a:gd name="adj" fmla="val 7059"/>
            </a:avLst>
          </a:prstGeom>
          <a:solidFill>
            <a:srgbClr val="F4F7FB"/>
          </a:solidFill>
          <a:ln w="12700">
            <a:solidFill>
              <a:srgbClr val="D8DEE9">
                <a:alpha val="40000"/>
              </a:srgbClr>
            </a:solidFill>
            <a:prstDash val="solid"/>
          </a:ln>
        </p:spPr>
      </p:sp>
      <p:sp>
        <p:nvSpPr>
          <p:cNvPr id="26" name="Text 24"/>
          <p:cNvSpPr/>
          <p:nvPr/>
        </p:nvSpPr>
        <p:spPr>
          <a:xfrm>
            <a:off x="4828032" y="4078224"/>
            <a:ext cx="2395728" cy="182880"/>
          </a:xfrm>
          <a:prstGeom prst="rect">
            <a:avLst/>
          </a:prstGeom>
          <a:noFill/>
          <a:ln/>
        </p:spPr>
        <p:txBody>
          <a:bodyPr wrap="square" lIns="0" tIns="0" rIns="0" bIns="0" rtlCol="0" anchor="ctr"/>
          <a:lstStyle/>
          <a:p>
            <a:pPr algn="ctr" indent="0" marL="0">
              <a:buNone/>
            </a:pPr>
            <a:r>
              <a:rPr lang="en-US" sz="1100" b="1" dirty="0">
                <a:solidFill>
                  <a:srgbClr val="1F2937"/>
                </a:solidFill>
              </a:rPr>
              <a:t>Engineering QA</a:t>
            </a:r>
            <a:endParaRPr lang="en-US" sz="1100" dirty="0"/>
          </a:p>
        </p:txBody>
      </p:sp>
      <p:sp>
        <p:nvSpPr>
          <p:cNvPr id="27" name="Text 25"/>
          <p:cNvSpPr/>
          <p:nvPr/>
        </p:nvSpPr>
        <p:spPr>
          <a:xfrm>
            <a:off x="4846320" y="4315968"/>
            <a:ext cx="2331720" cy="182880"/>
          </a:xfrm>
          <a:prstGeom prst="rect">
            <a:avLst/>
          </a:prstGeom>
          <a:noFill/>
          <a:ln/>
        </p:spPr>
        <p:txBody>
          <a:bodyPr wrap="square" lIns="0" tIns="0" rIns="0" bIns="0" rtlCol="0" anchor="ctr"/>
          <a:lstStyle/>
          <a:p>
            <a:pPr algn="ctr" indent="0" marL="0">
              <a:buNone/>
            </a:pPr>
            <a:r>
              <a:rPr lang="en-US" sz="850" dirty="0">
                <a:solidFill>
                  <a:srgbClr val="5E6C84"/>
                </a:solidFill>
              </a:rPr>
              <a:t>Placeholders and layout</a:t>
            </a:r>
            <a:endParaRPr lang="en-US" sz="850" dirty="0"/>
          </a:p>
        </p:txBody>
      </p:sp>
      <p:sp>
        <p:nvSpPr>
          <p:cNvPr id="28" name="Shape 26"/>
          <p:cNvSpPr/>
          <p:nvPr/>
        </p:nvSpPr>
        <p:spPr>
          <a:xfrm>
            <a:off x="9692640" y="3291840"/>
            <a:ext cx="0" cy="457200"/>
          </a:xfrm>
          <a:prstGeom prst="line">
            <a:avLst/>
          </a:prstGeom>
          <a:noFill/>
          <a:ln w="15240">
            <a:solidFill>
              <a:srgbClr val="94A3B8"/>
            </a:solidFill>
            <a:prstDash val="solid"/>
            <a:tailEnd type="triangle"/>
          </a:ln>
        </p:spPr>
      </p:sp>
      <p:sp>
        <p:nvSpPr>
          <p:cNvPr id="29" name="Shape 27"/>
          <p:cNvSpPr/>
          <p:nvPr/>
        </p:nvSpPr>
        <p:spPr>
          <a:xfrm>
            <a:off x="8321040" y="3886200"/>
            <a:ext cx="2743200" cy="777240"/>
          </a:xfrm>
          <a:prstGeom prst="roundRect">
            <a:avLst>
              <a:gd name="adj" fmla="val 7059"/>
            </a:avLst>
          </a:prstGeom>
          <a:solidFill>
            <a:srgbClr val="F4F7FB"/>
          </a:solidFill>
          <a:ln w="12700">
            <a:solidFill>
              <a:srgbClr val="D8DEE9">
                <a:alpha val="40000"/>
              </a:srgbClr>
            </a:solidFill>
            <a:prstDash val="solid"/>
          </a:ln>
        </p:spPr>
      </p:sp>
      <p:sp>
        <p:nvSpPr>
          <p:cNvPr id="30" name="Text 28"/>
          <p:cNvSpPr/>
          <p:nvPr/>
        </p:nvSpPr>
        <p:spPr>
          <a:xfrm>
            <a:off x="8485632" y="4078224"/>
            <a:ext cx="2395728" cy="182880"/>
          </a:xfrm>
          <a:prstGeom prst="rect">
            <a:avLst/>
          </a:prstGeom>
          <a:noFill/>
          <a:ln/>
        </p:spPr>
        <p:txBody>
          <a:bodyPr wrap="square" lIns="0" tIns="0" rIns="0" bIns="0" rtlCol="0" anchor="ctr"/>
          <a:lstStyle/>
          <a:p>
            <a:pPr algn="ctr" indent="0" marL="0">
              <a:buNone/>
            </a:pPr>
            <a:r>
              <a:rPr lang="en-US" sz="1100" b="1" dirty="0">
                <a:solidFill>
                  <a:srgbClr val="1F2937"/>
                </a:solidFill>
              </a:rPr>
              <a:t>Regional Review</a:t>
            </a:r>
            <a:endParaRPr lang="en-US" sz="1100" dirty="0"/>
          </a:p>
        </p:txBody>
      </p:sp>
      <p:sp>
        <p:nvSpPr>
          <p:cNvPr id="31" name="Text 29"/>
          <p:cNvSpPr/>
          <p:nvPr/>
        </p:nvSpPr>
        <p:spPr>
          <a:xfrm>
            <a:off x="8503920" y="4315968"/>
            <a:ext cx="2331720" cy="182880"/>
          </a:xfrm>
          <a:prstGeom prst="rect">
            <a:avLst/>
          </a:prstGeom>
          <a:noFill/>
          <a:ln/>
        </p:spPr>
        <p:txBody>
          <a:bodyPr wrap="square" lIns="0" tIns="0" rIns="0" bIns="0" rtlCol="0" anchor="ctr"/>
          <a:lstStyle/>
          <a:p>
            <a:pPr algn="ctr" indent="0" marL="0">
              <a:buNone/>
            </a:pPr>
            <a:r>
              <a:rPr lang="en-US" sz="850" dirty="0">
                <a:solidFill>
                  <a:srgbClr val="5E6C84"/>
                </a:solidFill>
              </a:rPr>
              <a:t>Market-specific validation</a:t>
            </a:r>
            <a:endParaRPr lang="en-US" sz="850" dirty="0"/>
          </a:p>
        </p:txBody>
      </p:sp>
      <p:sp>
        <p:nvSpPr>
          <p:cNvPr id="32" name="Text 30"/>
          <p:cNvSpPr/>
          <p:nvPr/>
        </p:nvSpPr>
        <p:spPr>
          <a:xfrm>
            <a:off x="1005840" y="5166360"/>
            <a:ext cx="9692640" cy="347472"/>
          </a:xfrm>
          <a:prstGeom prst="rect">
            <a:avLst/>
          </a:prstGeom>
          <a:noFill/>
          <a:ln/>
        </p:spPr>
        <p:txBody>
          <a:bodyPr wrap="square" lIns="0" tIns="0" rIns="0" bIns="0" rtlCol="0" anchor="ctr"/>
          <a:lstStyle/>
          <a:p>
            <a:pPr indent="0" marL="0">
              <a:buNone/>
            </a:pPr>
            <a:r>
              <a:rPr lang="en-US" sz="1100" i="1" dirty="0">
                <a:solidFill>
                  <a:srgbClr val="5E6C84"/>
                </a:solidFill>
              </a:rPr>
              <a:t>Org-chart style content tests hierarchy extraction, connector handling, and short labels that may expand after translation.</a:t>
            </a:r>
            <a:endParaRPr lang="en-US" sz="1100" dirty="0"/>
          </a:p>
        </p:txBody>
      </p:sp>
      <p:sp>
        <p:nvSpPr>
          <p:cNvPr id="33" name="Text 31"/>
          <p:cNvSpPr/>
          <p:nvPr/>
        </p:nvSpPr>
        <p:spPr>
          <a:xfrm>
            <a:off x="3840480" y="6400800"/>
            <a:ext cx="4389120" cy="164592"/>
          </a:xfrm>
          <a:prstGeom prst="rect">
            <a:avLst/>
          </a:prstGeom>
          <a:noFill/>
          <a:ln/>
        </p:spPr>
        <p:txBody>
          <a:bodyPr wrap="square" lIns="0" tIns="0" rIns="0" bIns="0" rtlCol="0" anchor="ctr"/>
          <a:lstStyle/>
          <a:p>
            <a:pPr algn="ctr" indent="0" marL="0">
              <a:buNone/>
            </a:pPr>
            <a:r>
              <a:rPr lang="en-US" sz="700" dirty="0">
                <a:solidFill>
                  <a:srgbClr val="7A869A"/>
                </a:solidFill>
              </a:rPr>
              <a:t>Hierarchy diagram with editable text</a:t>
            </a:r>
            <a:endParaRPr lang="en-US" sz="7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7772400" cy="347472"/>
          </a:xfrm>
          <a:prstGeom prst="rect">
            <a:avLst/>
          </a:prstGeom>
          <a:noFill/>
          <a:ln/>
        </p:spPr>
        <p:txBody>
          <a:bodyPr wrap="square" lIns="0" tIns="0" rIns="0" bIns="0" rtlCol="0" anchor="ctr"/>
          <a:lstStyle/>
          <a:p>
            <a:pPr indent="0" marL="0">
              <a:buNone/>
            </a:pPr>
            <a:r>
              <a:rPr lang="en-US" sz="2400" b="1" dirty="0">
                <a:solidFill>
                  <a:srgbClr val="12355B"/>
                </a:solidFill>
                <a:latin typeface="Aptos Display" pitchFamily="34" charset="0"/>
                <a:ea typeface="Aptos Display" pitchFamily="34" charset="-122"/>
                <a:cs typeface="Aptos Display" pitchFamily="34" charset="-120"/>
              </a:rPr>
              <a:t>Translation QA checklist</a:t>
            </a:r>
            <a:endParaRPr lang="en-US" sz="2400" dirty="0"/>
          </a:p>
        </p:txBody>
      </p:sp>
      <p:sp>
        <p:nvSpPr>
          <p:cNvPr id="3" name="Text 1"/>
          <p:cNvSpPr/>
          <p:nvPr/>
        </p:nvSpPr>
        <p:spPr>
          <a:xfrm>
            <a:off x="566928" y="704088"/>
            <a:ext cx="7132320" cy="201168"/>
          </a:xfrm>
          <a:prstGeom prst="rect">
            <a:avLst/>
          </a:prstGeom>
          <a:noFill/>
          <a:ln/>
        </p:spPr>
        <p:txBody>
          <a:bodyPr wrap="square" lIns="0" tIns="0" rIns="0" bIns="0" rtlCol="0" anchor="ctr"/>
          <a:lstStyle/>
          <a:p>
            <a:pPr indent="0" marL="0">
              <a:buNone/>
            </a:pPr>
            <a:r>
              <a:rPr lang="en-US" sz="950" i="1" dirty="0">
                <a:solidFill>
                  <a:srgbClr val="5E6C84"/>
                </a:solidFill>
              </a:rPr>
              <a:t>A final slide with repeated phrases and multi-paragraph text</a:t>
            </a:r>
            <a:endParaRPr lang="en-US" sz="950" dirty="0"/>
          </a:p>
        </p:txBody>
      </p:sp>
      <p:sp>
        <p:nvSpPr>
          <p:cNvPr id="4" name="Text 2"/>
          <p:cNvSpPr/>
          <p:nvPr/>
        </p:nvSpPr>
        <p:spPr>
          <a:xfrm>
            <a:off x="8686800" y="438912"/>
            <a:ext cx="1691640" cy="164592"/>
          </a:xfrm>
          <a:prstGeom prst="rect">
            <a:avLst/>
          </a:prstGeom>
          <a:noFill/>
          <a:ln/>
        </p:spPr>
        <p:txBody>
          <a:bodyPr wrap="square" lIns="0" tIns="0" rIns="0" bIns="0" rtlCol="0" anchor="ctr"/>
          <a:lstStyle/>
          <a:p>
            <a:pPr algn="r" indent="0" marL="0">
              <a:buNone/>
            </a:pPr>
            <a:r>
              <a:rPr lang="en-US" sz="750" dirty="0">
                <a:solidFill>
                  <a:srgbClr val="5E6C84"/>
                </a:solidFill>
              </a:rPr>
              <a:t>Date: June 5, 2026</a:t>
            </a:r>
            <a:endParaRPr lang="en-US" sz="750" dirty="0"/>
          </a:p>
        </p:txBody>
      </p:sp>
      <p:sp>
        <p:nvSpPr>
          <p:cNvPr id="5" name="Text 3"/>
          <p:cNvSpPr/>
          <p:nvPr/>
        </p:nvSpPr>
        <p:spPr>
          <a:xfrm>
            <a:off x="10515600" y="438912"/>
            <a:ext cx="914400" cy="164592"/>
          </a:xfrm>
          <a:prstGeom prst="rect">
            <a:avLst/>
          </a:prstGeom>
          <a:noFill/>
          <a:ln/>
        </p:spPr>
        <p:txBody>
          <a:bodyPr wrap="square" lIns="0" tIns="0" rIns="0" bIns="0" rtlCol="0" anchor="ctr"/>
          <a:lstStyle/>
          <a:p>
            <a:pPr algn="r" indent="0" marL="0">
              <a:buNone/>
            </a:pPr>
            <a:r>
              <a:rPr lang="en-US" sz="750" dirty="0">
                <a:solidFill>
                  <a:srgbClr val="5E6C84"/>
                </a:solidFill>
              </a:rPr>
              <a:t>Slide 11</a:t>
            </a:r>
            <a:endParaRPr lang="en-US" sz="750" dirty="0"/>
          </a:p>
        </p:txBody>
      </p:sp>
      <p:sp>
        <p:nvSpPr>
          <p:cNvPr id="6" name="Text 4"/>
          <p:cNvSpPr/>
          <p:nvPr/>
        </p:nvSpPr>
        <p:spPr>
          <a:xfrm>
            <a:off x="777240" y="1133856"/>
            <a:ext cx="4572000" cy="246888"/>
          </a:xfrm>
          <a:prstGeom prst="rect">
            <a:avLst/>
          </a:prstGeom>
          <a:noFill/>
          <a:ln/>
        </p:spPr>
        <p:txBody>
          <a:bodyPr wrap="square" lIns="0" tIns="0" rIns="0" bIns="0" rtlCol="0" anchor="ctr"/>
          <a:lstStyle/>
          <a:p>
            <a:pPr indent="0" marL="0">
              <a:buNone/>
            </a:pPr>
            <a:r>
              <a:rPr lang="en-US" sz="1400" b="1" dirty="0">
                <a:solidFill>
                  <a:srgbClr val="12355B"/>
                </a:solidFill>
              </a:rPr>
              <a:t>Before delivery, verify the following:</a:t>
            </a:r>
            <a:endParaRPr lang="en-US" sz="1400" dirty="0"/>
          </a:p>
        </p:txBody>
      </p:sp>
      <p:sp>
        <p:nvSpPr>
          <p:cNvPr id="7" name="Text 5"/>
          <p:cNvSpPr/>
          <p:nvPr/>
        </p:nvSpPr>
        <p:spPr>
          <a:xfrm>
            <a:off x="914400" y="1600200"/>
            <a:ext cx="5852160" cy="1508760"/>
          </a:xfrm>
          <a:prstGeom prst="rect">
            <a:avLst/>
          </a:prstGeom>
          <a:noFill/>
          <a:ln/>
        </p:spPr>
        <p:txBody>
          <a:bodyPr wrap="square" rtlCol="0" anchor="ctr">
            <a:normAutofit/>
          </a:bodyPr>
          <a:lstStyle/>
          <a:p>
            <a:pPr indent="0" marL="0">
              <a:buNone/>
            </a:pPr>
            <a:r>
              <a:rPr lang="en-US" sz="1200" dirty="0">
                <a:solidFill>
                  <a:srgbClr val="1F2937"/>
                </a:solidFill>
              </a:rPr>
              <a:t>• All visible text is translated, including headers, footers, notes, chart labels, and table cells.</a:t>
            </a:r>
            <a:endParaRPr lang="en-US" sz="1200" dirty="0"/>
          </a:p>
          <a:p>
            <a:pPr indent="0" marL="0">
              <a:buNone/>
            </a:pPr>
            <a:r>
              <a:rPr lang="en-US" sz="1200" dirty="0">
                <a:solidFill>
                  <a:srgbClr val="1F2937"/>
                </a:solidFill>
              </a:rPr>
              <a:t>• Placeholders such as {customer_name}, %USER_ID%, and {{invoice.total}} are preserved exactly.</a:t>
            </a:r>
            <a:endParaRPr lang="en-US" sz="1200" dirty="0"/>
          </a:p>
          <a:p>
            <a:pPr indent="0" marL="0">
              <a:buNone/>
            </a:pPr>
            <a:r>
              <a:rPr lang="en-US" sz="1200" dirty="0">
                <a:solidFill>
                  <a:srgbClr val="1F2937"/>
                </a:solidFill>
              </a:rPr>
              <a:t>• Dates are localized consistently: 06/05/2026, June 5, 2026, and 2026-06-05.</a:t>
            </a:r>
            <a:endParaRPr lang="en-US" sz="1200" dirty="0"/>
          </a:p>
          <a:p>
            <a:pPr indent="0" marL="0">
              <a:buNone/>
            </a:pPr>
            <a:r>
              <a:rPr lang="en-US" sz="1200" dirty="0">
                <a:solidFill>
                  <a:srgbClr val="1F2937"/>
                </a:solidFill>
              </a:rPr>
              <a:t>• UI strings remain concise: “Try again”, “Save changes”, and “Ready for localization”.</a:t>
            </a:r>
            <a:endParaRPr lang="en-US" sz="1200" dirty="0"/>
          </a:p>
        </p:txBody>
      </p:sp>
      <p:sp>
        <p:nvSpPr>
          <p:cNvPr id="8" name="Text 6"/>
          <p:cNvSpPr/>
          <p:nvPr/>
        </p:nvSpPr>
        <p:spPr>
          <a:xfrm>
            <a:off x="868680" y="3749040"/>
            <a:ext cx="9966960" cy="1143000"/>
          </a:xfrm>
          <a:prstGeom prst="rect">
            <a:avLst/>
          </a:prstGeom>
          <a:noFill/>
          <a:ln/>
        </p:spPr>
        <p:txBody>
          <a:bodyPr wrap="square" lIns="635" tIns="635" rIns="635" bIns="635" rtlCol="0" anchor="ctr">
            <a:normAutofit/>
          </a:bodyPr>
          <a:lstStyle/>
          <a:p>
            <a:pPr indent="0" marL="0">
              <a:buNone/>
            </a:pPr>
            <a:r>
              <a:rPr lang="en-US" sz="1100" dirty="0">
                <a:solidFill>
                  <a:srgbClr val="1F2937"/>
                </a:solidFill>
              </a:rPr>
              <a:t>Paragraph 1: This slide combines realistic product copy with technical placeholders and repeated phrases. It should be useful for automated extraction tests and manual linguistic review.</a:t>
            </a:r>
            <a:endParaRPr lang="en-US" sz="1100" dirty="0"/>
          </a:p>
          <a:p>
            <a:pPr indent="0" marL="0">
              <a:buNone/>
            </a:pPr>
            <a:endParaRPr lang="en-US" sz="1100" dirty="0"/>
          </a:p>
          <a:p>
            <a:pPr indent="0" marL="0">
              <a:buNone/>
            </a:pPr>
            <a:r>
              <a:rPr lang="en-US" sz="1100" dirty="0">
                <a:solidFill>
                  <a:srgbClr val="1F2937"/>
                </a:solidFill>
              </a:rPr>
              <a:t>Paragraph 2: Some languages require more space, different word order, or different punctuation. Reviewers should check whether line breaks, tabs, and bullets still make sense after translation.</a:t>
            </a:r>
            <a:endParaRPr lang="en-US" sz="1100" dirty="0"/>
          </a:p>
        </p:txBody>
      </p:sp>
      <p:sp>
        <p:nvSpPr>
          <p:cNvPr id="9" name="Shape 7"/>
          <p:cNvSpPr/>
          <p:nvPr/>
        </p:nvSpPr>
        <p:spPr>
          <a:xfrm>
            <a:off x="7406640" y="1234440"/>
            <a:ext cx="3566160" cy="1371600"/>
          </a:xfrm>
          <a:prstGeom prst="roundRect">
            <a:avLst>
              <a:gd name="adj" fmla="val 4000"/>
            </a:avLst>
          </a:prstGeom>
          <a:solidFill>
            <a:srgbClr val="FFF7E6"/>
          </a:solidFill>
          <a:ln w="12700">
            <a:solidFill>
              <a:srgbClr val="F5C16C">
                <a:alpha val="40000"/>
              </a:srgbClr>
            </a:solidFill>
            <a:prstDash val="solid"/>
          </a:ln>
        </p:spPr>
      </p:sp>
      <p:sp>
        <p:nvSpPr>
          <p:cNvPr id="10" name="Text 8"/>
          <p:cNvSpPr/>
          <p:nvPr/>
        </p:nvSpPr>
        <p:spPr>
          <a:xfrm>
            <a:off x="7635240" y="1490472"/>
            <a:ext cx="2926080" cy="228600"/>
          </a:xfrm>
          <a:prstGeom prst="rect">
            <a:avLst/>
          </a:prstGeom>
          <a:noFill/>
          <a:ln/>
        </p:spPr>
        <p:txBody>
          <a:bodyPr wrap="square" lIns="0" tIns="0" rIns="0" bIns="0" rtlCol="0" anchor="ctr"/>
          <a:lstStyle/>
          <a:p>
            <a:pPr algn="ctr" indent="0" marL="0">
              <a:buNone/>
            </a:pPr>
            <a:r>
              <a:rPr lang="en-US" sz="1600" b="1" dirty="0">
                <a:solidFill>
                  <a:srgbClr val="F28C28"/>
                </a:solidFill>
              </a:rPr>
              <a:t>Expansion risk</a:t>
            </a:r>
            <a:endParaRPr lang="en-US" sz="1600" dirty="0"/>
          </a:p>
        </p:txBody>
      </p:sp>
      <p:sp>
        <p:nvSpPr>
          <p:cNvPr id="11" name="Text 9"/>
          <p:cNvSpPr/>
          <p:nvPr/>
        </p:nvSpPr>
        <p:spPr>
          <a:xfrm>
            <a:off x="7726680" y="1874520"/>
            <a:ext cx="2743200" cy="320040"/>
          </a:xfrm>
          <a:prstGeom prst="rect">
            <a:avLst/>
          </a:prstGeom>
          <a:noFill/>
          <a:ln/>
        </p:spPr>
        <p:txBody>
          <a:bodyPr wrap="square" lIns="254" tIns="254" rIns="254" bIns="254" rtlCol="0" anchor="ctr">
            <a:normAutofit/>
          </a:bodyPr>
          <a:lstStyle/>
          <a:p>
            <a:pPr algn="ctr" indent="0" marL="0">
              <a:buNone/>
            </a:pPr>
            <a:r>
              <a:rPr lang="en-US" sz="1000" dirty="0">
                <a:solidFill>
                  <a:srgbClr val="1F2937"/>
                </a:solidFill>
              </a:rPr>
              <a:t>Long German or Finnish translations may exceed available UI width.</a:t>
            </a:r>
            <a:endParaRPr lang="en-US" sz="1000" dirty="0"/>
          </a:p>
        </p:txBody>
      </p:sp>
      <p:sp>
        <p:nvSpPr>
          <p:cNvPr id="25" name="Slide Number Placeholder 0"/>
          <p:cNvSpPr>
            <a:spLocks noGrp="1"/>
          </p:cNvSpPr>
          <p:nvPr>
            <p:ph type="sldNum" sz="quarter" idx="4294967295"/>
          </p:nvPr>
        </p:nvSpPr>
        <p:spPr>
          <a:xfrm>
            <a:off x="11356848" y="640080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69A"/>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Localization QA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Localization &amp; Translation QA Test Deck</dc:title>
  <dc:subject>Editable PPTX for localization and translation QA</dc:subject>
  <dc:creator>OpenAI</dc:creator>
  <cp:lastModifiedBy>OpenAI</cp:lastModifiedBy>
  <cp:revision>1</cp:revision>
  <dcterms:created xsi:type="dcterms:W3CDTF">2026-06-05T17:26:34Z</dcterms:created>
  <dcterms:modified xsi:type="dcterms:W3CDTF">2026-06-05T17:26:34Z</dcterms:modified>
</cp:coreProperties>
</file>