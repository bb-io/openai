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compact test slide includes formatted text runs, hyperlinks, bullets, numbering, cropped images, shapes, shadows and a custom slide master footer.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slide is intentionally dense enough to test tables, chart extraction, image placement, rotated labels, and layout stability after 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A_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Compact PPTX QA sample • editable objects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475720" y="660196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‹#›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abstract_modern_background_scene_overall.png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0" y="0"/>
            <a:ext cx="12191695" cy="65653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565392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57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Compact PPTX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Test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94360" y="1536192"/>
            <a:ext cx="51663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</a:rPr>
              <a:t>Small 2-slide sample with </a:t>
            </a:r>
            <a:pPr indent="0" marL="0">
              <a:buNone/>
            </a:pPr>
            <a:r>
              <a:rPr lang="en-US" sz="1500" b="1" dirty="0">
                <a:solidFill>
                  <a:srgbClr val="1AA6B7"/>
                </a:solidFill>
              </a:rPr>
              <a:t>rich formatting</a:t>
            </a:r>
            <a:pPr indent="0" marL="0">
              <a:buNone/>
            </a:pPr>
            <a:r>
              <a:rPr lang="en-US" sz="1500" dirty="0">
                <a:solidFill>
                  <a:srgbClr val="13233A"/>
                </a:solidFill>
              </a:rPr>
              <a:t>, editable layouts, images, tables, lists and chart objects.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217627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AA6B7">
              <a:alpha val="92000"/>
            </a:srgbClr>
          </a:solidFill>
          <a:ln w="12700">
            <a:solidFill>
              <a:srgbClr val="1AA6B7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04088" y="22448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Styles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00784" y="2176272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8367C7">
              <a:alpha val="92000"/>
            </a:srgbClr>
          </a:solidFill>
          <a:ln w="12700">
            <a:solidFill>
              <a:srgbClr val="8367C7">
                <a:alpha val="0"/>
              </a:srgbClr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13000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10512" y="2244852"/>
            <a:ext cx="740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Tables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98064" y="2176272"/>
            <a:ext cx="987552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92000"/>
            </a:srgbClr>
          </a:solidFill>
          <a:ln w="12700">
            <a:solidFill>
              <a:srgbClr val="FFB84D">
                <a:alpha val="0"/>
              </a:srgbClr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1300000000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07792" y="224485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Images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31920" y="2176272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0B2A4A">
              <a:alpha val="92000"/>
            </a:srgbClr>
          </a:solidFill>
          <a:ln w="12700">
            <a:solidFill>
              <a:srgbClr val="0B2A4A">
                <a:alpha val="0"/>
              </a:srgbClr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130000000000000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041648" y="22448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Charts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4360" y="281635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A"/>
                </a:solidFill>
              </a:rPr>
              <a:t>What this file tests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3233A"/>
                </a:solidFill>
              </a:rPr>
              <a:t>Bold, italic, underline, color, highlight</a:t>
            </a:r>
            <a:endParaRPr lang="en-US" sz="1250" dirty="0"/>
          </a:p>
          <a:p>
            <a:r>
              <a:rPr lang="en-US" sz="1250" dirty="0">
                <a:solidFill>
                  <a:srgbClr val="13233A"/>
                </a:solidFill>
              </a:rPr>
              <a:t>Bullets + numbered list behavior</a:t>
            </a:r>
            <a:endParaRPr lang="en-US" sz="1250" dirty="0"/>
          </a:p>
          <a:p>
            <a:r>
              <a:rPr lang="en-US" sz="1250" dirty="0">
                <a:solidFill>
                  <a:srgbClr val="13233A"/>
                </a:solidFill>
              </a:rPr>
              <a:t>Text boxes, shapes, shadows, hyperlinks</a:t>
            </a:r>
            <a:endParaRPr lang="en-US" sz="1250" dirty="0"/>
          </a:p>
          <a:p>
            <a:r>
              <a:rPr lang="en-US" sz="1250" dirty="0">
                <a:solidFill>
                  <a:srgbClr val="13233A"/>
                </a:solidFill>
              </a:rPr>
              <a:t>Cropped/anchored images with captions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" y="4590288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</a:rPr>
              <a:t>Mini checklist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49560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D6978"/>
                </a:solidFill>
              </a:rPr>
              <a:t>1. Extract text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D6978"/>
                </a:solidFill>
              </a:rPr>
              <a:t>2. Translate / round-trip</a:t>
            </a:r>
            <a:endParaRPr lang="en-US" sz="12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5D6978"/>
                </a:solidFill>
              </a:rPr>
              <a:t>3. Verify layout after import</a:t>
            </a:r>
            <a:endParaRPr lang="en-US" sz="1200" dirty="0"/>
          </a:p>
        </p:txBody>
      </p:sp>
      <p:sp>
        <p:nvSpPr>
          <p:cNvPr id="18" name="Text 15">
            <a:hlinkClick r:id="rId2" tooltip=""/>
          </p:cNvPr>
          <p:cNvSpPr/>
          <p:nvPr/>
        </p:nvSpPr>
        <p:spPr>
          <a:xfrm>
            <a:off x="4526280" y="5596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1AA6B7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sample link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903720" y="713232"/>
            <a:ext cx="4389120" cy="5257800"/>
          </a:xfrm>
          <a:prstGeom prst="roundRect">
            <a:avLst>
              <a:gd name="adj" fmla="val 20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6F2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1.3e+24"/>
              </a:srgbClr>
            </a:outerShdw>
          </a:effectLst>
        </p:spPr>
      </p:sp>
      <p:pic>
        <p:nvPicPr>
          <p:cNvPr id="20" name="Image 1" descr="/mnt/data/a_clean_flat_vector_illustration_concept_art_sce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7086600" y="896112"/>
            <a:ext cx="4023360" cy="2514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3639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</a:rPr>
              <a:t>Anchored image block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223760" y="4041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D6978"/>
                </a:solidFill>
              </a:rPr>
              <a:t>Caption with “quotes”, 24%, 2026-06-08, and (parentheses).</a:t>
            </a:r>
            <a:endParaRPr lang="en-US" sz="1120" dirty="0"/>
          </a:p>
        </p:txBody>
      </p:sp>
      <p:sp>
        <p:nvSpPr>
          <p:cNvPr id="23" name="Text 19"/>
          <p:cNvSpPr/>
          <p:nvPr/>
        </p:nvSpPr>
        <p:spPr>
          <a:xfrm>
            <a:off x="7223760" y="4709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33A"/>
                </a:solidFill>
              </a:rPr>
              <a:t>Inline: </a:t>
            </a:r>
            <a:pPr indent="0" marL="0">
              <a:buNone/>
            </a:pPr>
            <a:r>
              <a:rPr lang="en-US" sz="1100" dirty="0">
                <a:solidFill>
                  <a:srgbClr val="D94343"/>
                </a:solidFill>
              </a:rPr>
              <a:t>red </a:t>
            </a:r>
            <a:pPr indent="0" marL="0">
              <a:buNone/>
            </a:pPr>
            <a:r>
              <a:rPr lang="en-US" sz="1100" dirty="0">
                <a:solidFill>
                  <a:srgbClr val="2D9C5A"/>
                </a:solidFill>
              </a:rPr>
              <a:t>green </a:t>
            </a:r>
            <a:pPr indent="0" marL="0">
              <a:buNone/>
            </a:pPr>
            <a:r>
              <a:rPr lang="en-US" sz="1100" u="sng" dirty="0">
                <a:solidFill>
                  <a:srgbClr val="2B6CB0"/>
                </a:solidFill>
              </a:rPr>
              <a:t>blue</a:t>
            </a:r>
            <a:pPr indent="0" marL="0">
              <a:buNone/>
            </a:pPr>
            <a:r>
              <a:rPr lang="en-US" sz="1100" dirty="0">
                <a:solidFill>
                  <a:srgbClr val="13233A"/>
                </a:solidFill>
                <a:highlight>
                  <a:srgbClr val="FFF2CC"/>
                </a:highlight>
              </a:rPr>
              <a:t> + highlighted text.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arm_well_lit_workspace_office_desk_scene_viewe.png">    </p:cNvPr>
          <p:cNvPicPr>
            <a:picLocks noChangeAspect="1"/>
          </p:cNvPicPr>
          <p:nvPr/>
        </p:nvPicPr>
        <p:blipFill>
          <a:blip r:embed="rId1"/>
          <a:srcRect l="24513" r="24513" t="0" b="0"/>
          <a:stretch/>
        </p:blipFill>
        <p:spPr>
          <a:xfrm>
            <a:off x="7726680" y="0"/>
            <a:ext cx="4462272" cy="6565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840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Tables + Chart + Layout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30352" y="932688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978"/>
                </a:solidFill>
              </a:rPr>
              <a:t>A small slide with editable table cells, chart data, merged-looking headers, rotated text and independent text boxes.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914400" cy="283464"/>
          </a:xfrm>
          <a:prstGeom prst="rect">
            <a:avLst/>
          </a:prstGeom>
          <a:solidFill>
            <a:srgbClr val="0B2A4A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" y="155448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Area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463040" y="1481328"/>
            <a:ext cx="1554480" cy="283464"/>
          </a:xfrm>
          <a:prstGeom prst="rect">
            <a:avLst/>
          </a:prstGeom>
          <a:solidFill>
            <a:srgbClr val="0B2A4A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99616" y="1554480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Feature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3017520" y="1481328"/>
            <a:ext cx="2926080" cy="283464"/>
          </a:xfrm>
          <a:prstGeom prst="rect">
            <a:avLst/>
          </a:prstGeom>
          <a:solidFill>
            <a:srgbClr val="0B2A4A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54096" y="1554480"/>
            <a:ext cx="2852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QA note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548640" y="1764792"/>
            <a:ext cx="9144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" y="183794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Text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1463040" y="1764792"/>
            <a:ext cx="155448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99616" y="1837944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Runs + styles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017520" y="1764792"/>
            <a:ext cx="292608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54096" y="1837944"/>
            <a:ext cx="2852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Check bold/italic/color/highlight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548640" y="2048256"/>
            <a:ext cx="91440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" y="212140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Layout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1463040" y="2048256"/>
            <a:ext cx="155448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9616" y="2121408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Master footer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3017520" y="2048256"/>
            <a:ext cx="292608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54096" y="2121408"/>
            <a:ext cx="2852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Slide number + fixed footer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48640" y="2331720"/>
            <a:ext cx="9144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" y="240487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Media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463040" y="2331720"/>
            <a:ext cx="155448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9616" y="240487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Cropped image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3017520" y="2331720"/>
            <a:ext cx="292608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054096" y="2404872"/>
            <a:ext cx="2852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Verify crop and alt-text handling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548640" y="2615184"/>
            <a:ext cx="91440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" y="268833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Data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1463040" y="2615184"/>
            <a:ext cx="155448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9616" y="2688336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Chart + table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3017520" y="2615184"/>
            <a:ext cx="2926080" cy="283464"/>
          </a:xfrm>
          <a:prstGeom prst="rect">
            <a:avLst/>
          </a:prstGeom>
          <a:solidFill>
            <a:srgbClr val="F3F8FC"/>
          </a:solidFill>
          <a:ln w="9525">
            <a:solidFill>
              <a:srgbClr val="BFD7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54096" y="2688336"/>
            <a:ext cx="2852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3233A"/>
                </a:solidFill>
              </a:rPr>
              <a:t>Round-trip editable objects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594360" y="3401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4A"/>
                </a:solidFill>
              </a:rPr>
              <a:t>Editable mini bar chart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4360" y="380390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Text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1325880" y="3822192"/>
            <a:ext cx="1920240" cy="118872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325880" y="3822192"/>
            <a:ext cx="1766621" cy="118872"/>
          </a:xfrm>
          <a:prstGeom prst="rect">
            <a:avLst/>
          </a:prstGeom>
          <a:solidFill>
            <a:srgbClr val="1AA6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337560" y="379933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A"/>
                </a:solidFill>
              </a:rPr>
              <a:t>92%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94360" y="419709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Tables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325880" y="4215384"/>
            <a:ext cx="1920240" cy="118872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325880" y="4215384"/>
            <a:ext cx="1689811" cy="118872"/>
          </a:xfrm>
          <a:prstGeom prst="rect">
            <a:avLst/>
          </a:prstGeom>
          <a:solidFill>
            <a:srgbClr val="8367C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337560" y="419252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A"/>
                </a:solidFill>
              </a:rPr>
              <a:t>88%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594360" y="459028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Images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325880" y="4608576"/>
            <a:ext cx="1920240" cy="118872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325880" y="4608576"/>
            <a:ext cx="1459382" cy="118872"/>
          </a:xfrm>
          <a:prstGeom prst="rect">
            <a:avLst/>
          </a:prstGeom>
          <a:solidFill>
            <a:srgbClr val="FFB8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337560" y="4585716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A"/>
                </a:solidFill>
              </a:rPr>
              <a:t>76%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94360" y="498348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978"/>
                </a:solidFill>
              </a:rPr>
              <a:t>Layout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1325880" y="5001768"/>
            <a:ext cx="1920240" cy="118872"/>
          </a:xfrm>
          <a:prstGeom prst="rect">
            <a:avLst/>
          </a:prstGeom>
          <a:solidFill>
            <a:srgbClr val="E9EE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325880" y="5001768"/>
            <a:ext cx="1344168" cy="118872"/>
          </a:xfrm>
          <a:prstGeom prst="rect">
            <a:avLst/>
          </a:prstGeom>
          <a:solidFill>
            <a:srgbClr val="5CC8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337560" y="497890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3233A"/>
                </a:solidFill>
              </a:rPr>
              <a:t>70%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1325880" y="5413248"/>
            <a:ext cx="1920240" cy="0"/>
          </a:xfrm>
          <a:prstGeom prst="line">
            <a:avLst/>
          </a:prstGeom>
          <a:noFill/>
          <a:ln w="9525">
            <a:solidFill>
              <a:srgbClr val="BFD7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271016" y="550468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978"/>
                </a:solidFill>
              </a:rPr>
              <a:t>0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3090672" y="550468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978"/>
                </a:solidFill>
              </a:rPr>
              <a:t>100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4069080" y="3493008"/>
            <a:ext cx="2011680" cy="1975104"/>
          </a:xfrm>
          <a:prstGeom prst="roundRect">
            <a:avLst>
              <a:gd name="adj" fmla="val 5556"/>
            </a:avLst>
          </a:prstGeom>
          <a:solidFill>
            <a:srgbClr val="F2F7FB"/>
          </a:solidFill>
          <a:ln w="12700">
            <a:solidFill>
              <a:srgbClr val="D9E6F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242816" y="3703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A4A"/>
                </a:solidFill>
              </a:rPr>
              <a:t>Merged-looking header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4242816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3233A"/>
                </a:solidFill>
              </a:rPr>
              <a:t>Top band spans visually across cells. Useful for import/export QA.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 rot="16200000">
            <a:off x="6153912" y="192024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367C7"/>
                </a:solidFill>
              </a:rPr>
              <a:t>ROTATED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4224528" y="4892040"/>
            <a:ext cx="1508760" cy="2286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D6978"/>
                </a:solidFill>
              </a:rPr>
              <a:t>  Text with leading and trailing spaces  </a:t>
            </a:r>
            <a:endParaRPr lang="en-US" sz="880" dirty="0"/>
          </a:p>
        </p:txBody>
      </p:sp>
      <p:sp>
        <p:nvSpPr>
          <p:cNvPr id="60" name="Text 57"/>
          <p:cNvSpPr/>
          <p:nvPr/>
        </p:nvSpPr>
        <p:spPr>
          <a:xfrm>
            <a:off x="6583680" y="5669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A"/>
                </a:solidFill>
              </a:rPr>
              <a:t>Notes area</a:t>
            </a:r>
            <a:endParaRPr lang="en-US" sz="1200" dirty="0"/>
          </a:p>
        </p:txBody>
      </p:sp>
      <p:sp>
        <p:nvSpPr>
          <p:cNvPr id="61" name="Text 58"/>
          <p:cNvSpPr/>
          <p:nvPr/>
        </p:nvSpPr>
        <p:spPr>
          <a:xfrm>
            <a:off x="6583680" y="932688"/>
            <a:ext cx="8229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3233A"/>
                </a:solidFill>
              </a:rPr>
              <a:t>• Independent text box
</a:t>
            </a:r>
            <a:pPr indent="0" marL="0">
              <a:buNone/>
            </a:pPr>
            <a:r>
              <a:rPr lang="en-US" sz="870" dirty="0">
                <a:solidFill>
                  <a:srgbClr val="13233A"/>
                </a:solidFill>
              </a:rPr>
              <a:t>• Date: 08 Jun 2026
</a:t>
            </a:r>
            <a:pPr indent="0" marL="0">
              <a:buNone/>
            </a:pPr>
            <a:r>
              <a:rPr lang="en-US" sz="870" dirty="0">
                <a:solidFill>
                  <a:srgbClr val="13233A"/>
                </a:solidFill>
              </a:rPr>
              <a:t>• Amount: €1,250.00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Localization QA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Compact PPTX Feature Test</dc:title>
  <dc:subject>Small PPTX with varied PowerPoint features</dc:subject>
  <dc:creator>OpenAI</dc:creator>
  <cp:lastModifiedBy>OpenAI</cp:lastModifiedBy>
  <cp:revision>1</cp:revision>
  <dcterms:created xsi:type="dcterms:W3CDTF">2026-06-08T17:01:47Z</dcterms:created>
  <dcterms:modified xsi:type="dcterms:W3CDTF">2026-06-08T17:01:47Z</dcterms:modified>
</cp:coreProperties>
</file>